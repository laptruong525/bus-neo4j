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001bf311-0266-1c4c-24cc-6087f6433bc3}">
          <p14:sldIdLst>
            <p14:sldId id="256"/>
            <p14:sldId id="257"/>
            <p14:sldId id="258"/>
          </p14:sldIdLst>
        </p14:section>
        <p14:section name="Thiết kế" id="{d7e49acf-25e6-8653-f6c6-444a9cbeb778}">
          <p14:sldIdLst>
            <p14:sldId id="259"/>
            <p14:sldId id="260"/>
            <p14:sldId id="261"/>
          </p14:sldIdLst>
        </p14:section>
        <p14:section name="Thuật toán" id="{eebe731f-6261-10b1-8382-9e8b89f003ac}">
          <p14:sldIdLst>
            <p14:sldId id="262"/>
            <p14:sldId id="263"/>
          </p14:sldIdLst>
        </p14:section>
        <p14:section name="Kết quả" id="{40588d98-81b7-4854-8149-12ab9ae00b8a}">
          <p14:sldIdLst>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B1F3A"/>
                </a:solidFill>
                <a:latin typeface="+mn-lt"/>
              </a:defRPr>
            </a:pPr>
            <a:r>
              <a:rPr sz="1600" b="0" i="0" u="none" strike="noStrike">
                <a:solidFill>
                  <a:srgbClr val="0B1F3A"/>
                </a:solidFill>
                <a:latin typeface="+mn-lt"/>
              </a:rPr>
              <a:t>Số trạm dừng theo tuyến</a:t>
            </a:r>
          </a:p>
        </c:rich>
      </c:tx>
      <c:layout/>
      <c:overlay val="0"/>
    </c:title>
    <c:autoTitleDeleted val="0"/>
    <c:plotArea>
      <c:layout/>
      <c:barChart>
        <c:barDir val="col"/>
        <c:grouping val="clustered"/>
        <c:varyColors val="0"/>
        <c:ser>
          <c:idx val="0"/>
          <c:order val="0"/>
          <c:tx>
            <c:strRef>
              <c:f>Sheet1!$B$1</c:f>
              <c:strCache>
                <c:ptCount val="1"/>
                <c:pt idx="0">
                  <c:v>Số trạm</c:v>
                </c:pt>
              </c:strCache>
            </c:strRef>
          </c:tx>
          <c:spPr>
            <a:solidFill>
              <a:srgbClr val="0E7C86"/>
            </a:solidFill>
            <a:effectLst/>
          </c:spPr>
          <c:invertIfNegative val="0"/>
          <c:dLbls>
            <c:numFmt formatCode="#,##0" sourceLinked="0"/>
            <c:txPr>
              <a:bodyPr/>
              <a:lstStyle/>
              <a:p>
                <a:pPr>
                  <a:defRPr b="0" i="0" strike="noStrike" sz="1300" u="none">
                    <a:solidFill>
                      <a:srgbClr val="0B1F3A"/>
                    </a:solidFill>
                    <a:latin typeface="+mn-lt"/>
                  </a:defRPr>
                </a:pPr>
              </a:p>
            </c:txPr>
            <c:showLegendKey val="0"/>
            <c:showVal val="1"/>
            <c:showCatName val="0"/>
            <c:showSerName val="0"/>
            <c:showPercent val="0"/>
            <c:showBubbleSize val="0"/>
            <c:showLeaderLines val="0"/>
          </c:dLbls>
          <c:cat>
            <c:multiLvlStrRef>
              <c:f>Sheet1!$A$2:$A$11</c:f>
              <c:multiLvlStrCache>
                <c:ptCount val="10"/>
                <c:lvl>
                  <c:pt idx="0">
                    <c:v>Tuyến 01</c:v>
                  </c:pt>
                  <c:pt idx="1">
                    <c:v>Tuyến 02</c:v>
                  </c:pt>
                  <c:pt idx="2">
                    <c:v>Tuyến 03</c:v>
                  </c:pt>
                  <c:pt idx="3">
                    <c:v>Tuyến 04</c:v>
                  </c:pt>
                  <c:pt idx="4">
                    <c:v>Tuyến 06</c:v>
                  </c:pt>
                  <c:pt idx="5">
                    <c:v>Tuyến 08</c:v>
                  </c:pt>
                  <c:pt idx="6">
                    <c:v>Tuyến 14</c:v>
                  </c:pt>
                  <c:pt idx="7">
                    <c:v>Tuyến 18</c:v>
                  </c:pt>
                  <c:pt idx="8">
                    <c:v>Tuyến 19</c:v>
                  </c:pt>
                  <c:pt idx="9">
                    <c:v>Tuyến 52</c:v>
                  </c:pt>
                </c:lvl>
              </c:multiLvlStrCache>
            </c:multiLvlStrRef>
          </c:cat>
          <c:val>
            <c:numRef>
              <c:f>Sheet1!$B$2:$B$11</c:f>
              <c:numCache>
                <c:formatCode>General</c:formatCode>
                <c:ptCount val="10"/>
                <c:pt idx="0">
                  <c:v>9</c:v>
                </c:pt>
                <c:pt idx="1">
                  <c:v>10</c:v>
                </c:pt>
                <c:pt idx="2">
                  <c:v>10</c:v>
                </c:pt>
                <c:pt idx="3">
                  <c:v>9</c:v>
                </c:pt>
                <c:pt idx="4">
                  <c:v>13</c:v>
                </c:pt>
                <c:pt idx="5">
                  <c:v>15</c:v>
                </c:pt>
                <c:pt idx="6">
                  <c:v>9</c:v>
                </c:pt>
                <c:pt idx="7">
                  <c:v>8</c:v>
                </c:pt>
                <c:pt idx="8">
                  <c:v>11</c:v>
                </c:pt>
                <c:pt idx="9">
                  <c:v>15</c:v>
                </c:pt>
              </c:numCache>
            </c:numRef>
          </c:val>
        </c:ser>
        <c:dLbls>
          <c:numFmt formatCode="#,##0" sourceLinked="0"/>
          <c:txPr>
            <a:bodyPr/>
            <a:lstStyle/>
            <a:p>
              <a:pPr>
                <a:defRPr b="0" i="0" strike="noStrike" sz="1300" u="none">
                  <a:solidFill>
                    <a:srgbClr val="0B1F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7B"/>
                </a:solidFill>
                <a:latin typeface="+mn-lt"/>
              </a:defRPr>
            </a:pPr>
            <a:endParaRPr lang="en-US"/>
          </a:p>
        </c:txPr>
        <c:crossAx val="2094734552"/>
        <c:crosses val="autoZero"/>
        <c:auto val="1"/>
        <c:lblAlgn val="ctr"/>
        <c:noMultiLvlLbl val="1"/>
      </c:catAx>
      <c:valAx>
        <c:axId val="2094734552"/>
        <c:scaling>
          <c:orientation val="minMax"/>
          <c:max val="18"/>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B"/>
                </a:solidFill>
                <a:latin typeface="+mn-lt"/>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ứng dụng tra cứu lộ trình xe buýt dùng cơ sở dữ liệu đồ thị Neo4j, dữ liệu mẫu mô phỏng mạng lưới TP. Hồ Chí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từ Bến xe Quận 8 đi tuyến 08 đến Chợ Bến Thành rồi đổi sang tuyến 04 đến Bến xe An Sương. Thời gian chờ khi đổi tuyến là một phần chi phí của hành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Mạng lưới xe buýt vốn là một đồ thị: trạm là đỉnh, đoạn đường là cạnh. Mô hình đồ thị khớp trực tiếp với bài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loại nút: Station và BusRoute. STOPS_AT ghi thứ tự trạm của tuyến. CONNECTS_TO là cạnh có hướng giữa hai trạm liên tiếp, mang mã tuyến, khoảng cách và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mô phỏng: tên trạm, tuyến bám theo địa danh thật nhưng tọa độ, khoảng cách và giờ chạy chỉ là ước lượng. Tổng 109 lượt trạm trên 10 tuyến tạo ra 198 cạnh hai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gọi REST API của FastAPI. FastAPI dùng driver Bolt gửi Cypher tới Neo4j, nạp đồ thị vào RAM để chạy Dijkstra, và làm mới bộ nhớ đệm sau mỗi thao tác ghi.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nút của đồ thị trạng thái là một cặp (trạm, tuyến đang đi). Cạnh ngang là đi tiếp trên một tuyến; cạnh dọc là đổi tuyến tại cùng một trạm, tốn thời gian chờ bằng nửa giãn cách của tuyến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một cặp trạm, hai chế độ cho kết quả khác nhau: bớt một lần chuyển tuyến phải đánh đổi thêm 13 phút di chuyển.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Màn hình tìm đường: hai thẻ kết quả đặt cạnh nhau, bấm vào thẻ để đổi lộ trình đang tô sáng trên đồ thị bên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quản trị cho phép CRUD trạm, tuyến, trọng số và giờ xuất bến. Mọi thay đổi làm mới bộ nhớ đệm đồ thị nên kết quả tìm đường cập nhật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kiểm thử chạy trên đồ thị nạp sẵn trong RAM nên không phụ thuộc Neo4j. Truy vấn Cypher được kiểm tra khi chạy trên Neo4j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675120" cy="22860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4343400"/>
            <a:ext cx="6675120" cy="82296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675120" cy="2286000"/>
          </a:xfrm>
          <a:prstGeom prst="rect">
            <a:avLst/>
          </a:prstGeom>
          <a:noFill/>
          <a:ln/>
        </p:spPr>
        <p:txBody>
          <a:bodyPr wrap="square" lIns="0" tIns="0" rIns="0" bIns="0" rtlCol="0" anchor="b"/>
          <a:lstStyle/>
          <a:p>
            <a:pPr algn="l" indent="0" marL="0">
              <a:buNone/>
            </a:pPr>
            <a:r>
              <a:rPr lang="en-US" sz="4600" b="1" dirty="0">
                <a:solidFill>
                  <a:schemeClr val="bg1"/>
                </a:solidFill>
              </a:rPr>
              <a:t>Hệ thống tra cứu lộ trình xe buýt công cộng</a:t>
            </a:r>
            <a:endParaRPr lang="en-US" sz="4600" dirty="0"/>
          </a:p>
        </p:txBody>
      </p:sp>
      <p:sp>
        <p:nvSpPr>
          <p:cNvPr id="3" name="Text 0"/>
          <p:cNvSpPr/>
          <p:nvPr>
            <p:ph idx="101" type="body" hasCustomPrompt="1"/>
          </p:nvPr>
        </p:nvSpPr>
        <p:spPr>
          <a:xfrm>
            <a:off x="731520" y="4343400"/>
            <a:ext cx="6675120" cy="822960"/>
          </a:xfrm>
          <a:prstGeom prst="rect">
            <a:avLst/>
          </a:prstGeom>
          <a:noFill/>
          <a:ln/>
        </p:spPr>
        <p:txBody>
          <a:bodyPr wrap="square" lIns="0" tIns="0" rIns="0" bIns="0" rtlCol="0" anchor="t"/>
          <a:lstStyle/>
          <a:p>
            <a:pPr indent="0" marL="0">
              <a:buNone/>
            </a:pPr>
            <a:r>
              <a:rPr lang="en-US" sz="2000" dirty="0">
                <a:solidFill>
                  <a:schemeClr val="accent2"/>
                </a:solidFill>
              </a:rPr>
              <a:t>Neo4j · Thuật toán Dijkstra · Xử lý chuyển tuyến</a:t>
            </a:r>
            <a:endParaRPr lang="en-US" sz="2000" dirty="0"/>
          </a:p>
          <a:p>
            <a:pPr indent="0" marL="0">
              <a:buNone/>
            </a:pPr>
            <a:r>
              <a:rPr lang="en-US" sz="2000" dirty="0">
                <a:solidFill>
                  <a:schemeClr val="accent2"/>
                </a:solidFill>
              </a:rPr>
              <a:t>Dữ liệu mô phỏng mạng lưới xe buýt TP. Hồ Chí Minh</a:t>
            </a:r>
            <a:endParaRPr lang="en-US" sz="2000" dirty="0"/>
          </a:p>
        </p:txBody>
      </p:sp>
      <p:sp>
        <p:nvSpPr>
          <p:cNvPr id="4" name="motif edge 1"/>
          <p:cNvSpPr/>
          <p:nvPr/>
        </p:nvSpPr>
        <p:spPr>
          <a:xfrm flipV="1">
            <a:off x="8412480" y="1280160"/>
            <a:ext cx="1645920" cy="548640"/>
          </a:xfrm>
          <a:prstGeom prst="line">
            <a:avLst/>
          </a:prstGeom>
          <a:noFill/>
          <a:ln w="63500">
            <a:solidFill>
              <a:schemeClr val="accent1"/>
            </a:solidFill>
            <a:prstDash val="solid"/>
          </a:ln>
        </p:spPr>
      </p:sp>
      <p:sp>
        <p:nvSpPr>
          <p:cNvPr id="5" name="motif edge 2"/>
          <p:cNvSpPr/>
          <p:nvPr/>
        </p:nvSpPr>
        <p:spPr>
          <a:xfrm>
            <a:off x="10058400" y="1280160"/>
            <a:ext cx="1097280" cy="1371600"/>
          </a:xfrm>
          <a:prstGeom prst="line">
            <a:avLst/>
          </a:prstGeom>
          <a:noFill/>
          <a:ln w="63500">
            <a:solidFill>
              <a:schemeClr val="accent1"/>
            </a:solidFill>
            <a:prstDash val="solid"/>
          </a:ln>
        </p:spPr>
      </p:sp>
      <p:sp>
        <p:nvSpPr>
          <p:cNvPr id="6" name="motif edge 3"/>
          <p:cNvSpPr/>
          <p:nvPr/>
        </p:nvSpPr>
        <p:spPr>
          <a:xfrm>
            <a:off x="8412480" y="1828800"/>
            <a:ext cx="1097280" cy="1554480"/>
          </a:xfrm>
          <a:prstGeom prst="line">
            <a:avLst/>
          </a:prstGeom>
          <a:noFill/>
          <a:ln w="63500">
            <a:solidFill>
              <a:schemeClr val="accent2"/>
            </a:solidFill>
            <a:prstDash val="solid"/>
          </a:ln>
        </p:spPr>
      </p:sp>
      <p:sp>
        <p:nvSpPr>
          <p:cNvPr id="7" name="motif edge 4"/>
          <p:cNvSpPr/>
          <p:nvPr/>
        </p:nvSpPr>
        <p:spPr>
          <a:xfrm flipV="1">
            <a:off x="9509760" y="2651760"/>
            <a:ext cx="1645920" cy="731520"/>
          </a:xfrm>
          <a:prstGeom prst="line">
            <a:avLst/>
          </a:prstGeom>
          <a:noFill/>
          <a:ln w="63500">
            <a:solidFill>
              <a:schemeClr val="accent2"/>
            </a:solidFill>
            <a:prstDash val="solid"/>
          </a:ln>
        </p:spPr>
      </p:sp>
      <p:sp>
        <p:nvSpPr>
          <p:cNvPr id="8" name="motif edge 5"/>
          <p:cNvSpPr/>
          <p:nvPr/>
        </p:nvSpPr>
        <p:spPr>
          <a:xfrm flipV="1">
            <a:off x="8138160" y="3383280"/>
            <a:ext cx="1371600" cy="822960"/>
          </a:xfrm>
          <a:prstGeom prst="line">
            <a:avLst/>
          </a:prstGeom>
          <a:noFill/>
          <a:ln w="63500">
            <a:solidFill>
              <a:schemeClr val="accent1"/>
            </a:solidFill>
            <a:prstDash val="solid"/>
          </a:ln>
        </p:spPr>
      </p:sp>
      <p:sp>
        <p:nvSpPr>
          <p:cNvPr id="9" name="motif edge 6"/>
          <p:cNvSpPr/>
          <p:nvPr/>
        </p:nvSpPr>
        <p:spPr>
          <a:xfrm>
            <a:off x="9509760" y="3383280"/>
            <a:ext cx="1097280" cy="1280160"/>
          </a:xfrm>
          <a:prstGeom prst="line">
            <a:avLst/>
          </a:prstGeom>
          <a:noFill/>
          <a:ln w="63500">
            <a:solidFill>
              <a:schemeClr val="accent2"/>
            </a:solidFill>
            <a:prstDash val="solid"/>
          </a:ln>
        </p:spPr>
      </p:sp>
      <p:sp>
        <p:nvSpPr>
          <p:cNvPr id="10" name="motif edge 7"/>
          <p:cNvSpPr/>
          <p:nvPr/>
        </p:nvSpPr>
        <p:spPr>
          <a:xfrm>
            <a:off x="8138160" y="4206240"/>
            <a:ext cx="1005840" cy="1463040"/>
          </a:xfrm>
          <a:prstGeom prst="line">
            <a:avLst/>
          </a:prstGeom>
          <a:noFill/>
          <a:ln w="63500">
            <a:solidFill>
              <a:schemeClr val="accent2"/>
            </a:solidFill>
            <a:prstDash val="solid"/>
          </a:ln>
        </p:spPr>
      </p:sp>
      <p:sp>
        <p:nvSpPr>
          <p:cNvPr id="11" name="motif edge 8"/>
          <p:cNvSpPr/>
          <p:nvPr/>
        </p:nvSpPr>
        <p:spPr>
          <a:xfrm flipV="1">
            <a:off x="9144000" y="4663440"/>
            <a:ext cx="1463040" cy="1005840"/>
          </a:xfrm>
          <a:prstGeom prst="line">
            <a:avLst/>
          </a:prstGeom>
          <a:noFill/>
          <a:ln w="63500">
            <a:solidFill>
              <a:schemeClr val="accent1"/>
            </a:solidFill>
            <a:prstDash val="solid"/>
          </a:ln>
        </p:spPr>
      </p:sp>
      <p:sp>
        <p:nvSpPr>
          <p:cNvPr id="12" name="motif node 1"/>
          <p:cNvSpPr/>
          <p:nvPr/>
        </p:nvSpPr>
        <p:spPr>
          <a:xfrm>
            <a:off x="8211312" y="1627632"/>
            <a:ext cx="402336" cy="402336"/>
          </a:xfrm>
          <a:prstGeom prst="ellipse">
            <a:avLst/>
          </a:prstGeom>
          <a:solidFill>
            <a:schemeClr val="bg1"/>
          </a:solidFill>
          <a:ln w="38100">
            <a:solidFill>
              <a:schemeClr val="tx1"/>
            </a:solidFill>
            <a:prstDash val="solid"/>
          </a:ln>
        </p:spPr>
      </p:sp>
      <p:sp>
        <p:nvSpPr>
          <p:cNvPr id="13" name="motif node 2"/>
          <p:cNvSpPr/>
          <p:nvPr/>
        </p:nvSpPr>
        <p:spPr>
          <a:xfrm>
            <a:off x="9857232" y="1078992"/>
            <a:ext cx="402336" cy="402336"/>
          </a:xfrm>
          <a:prstGeom prst="ellipse">
            <a:avLst/>
          </a:prstGeom>
          <a:solidFill>
            <a:schemeClr val="bg1"/>
          </a:solidFill>
          <a:ln w="38100">
            <a:solidFill>
              <a:schemeClr val="tx1"/>
            </a:solidFill>
            <a:prstDash val="solid"/>
          </a:ln>
        </p:spPr>
      </p:sp>
      <p:sp>
        <p:nvSpPr>
          <p:cNvPr id="14" name="motif node 3"/>
          <p:cNvSpPr/>
          <p:nvPr/>
        </p:nvSpPr>
        <p:spPr>
          <a:xfrm>
            <a:off x="10954512" y="2450592"/>
            <a:ext cx="402336" cy="402336"/>
          </a:xfrm>
          <a:prstGeom prst="ellipse">
            <a:avLst/>
          </a:prstGeom>
          <a:solidFill>
            <a:schemeClr val="bg1"/>
          </a:solidFill>
          <a:ln w="38100">
            <a:solidFill>
              <a:schemeClr val="tx1"/>
            </a:solidFill>
            <a:prstDash val="solid"/>
          </a:ln>
        </p:spPr>
      </p:sp>
      <p:sp>
        <p:nvSpPr>
          <p:cNvPr id="15" name="motif node 4"/>
          <p:cNvSpPr/>
          <p:nvPr/>
        </p:nvSpPr>
        <p:spPr>
          <a:xfrm>
            <a:off x="9308592" y="3182112"/>
            <a:ext cx="402336" cy="402336"/>
          </a:xfrm>
          <a:prstGeom prst="ellipse">
            <a:avLst/>
          </a:prstGeom>
          <a:solidFill>
            <a:schemeClr val="bg1"/>
          </a:solidFill>
          <a:ln w="38100">
            <a:solidFill>
              <a:schemeClr val="tx1"/>
            </a:solidFill>
            <a:prstDash val="solid"/>
          </a:ln>
        </p:spPr>
      </p:sp>
      <p:sp>
        <p:nvSpPr>
          <p:cNvPr id="16" name="motif node 5"/>
          <p:cNvSpPr/>
          <p:nvPr/>
        </p:nvSpPr>
        <p:spPr>
          <a:xfrm>
            <a:off x="7936992" y="4005072"/>
            <a:ext cx="402336" cy="402336"/>
          </a:xfrm>
          <a:prstGeom prst="ellipse">
            <a:avLst/>
          </a:prstGeom>
          <a:solidFill>
            <a:schemeClr val="bg1"/>
          </a:solidFill>
          <a:ln w="38100">
            <a:solidFill>
              <a:schemeClr val="tx1"/>
            </a:solidFill>
            <a:prstDash val="solid"/>
          </a:ln>
        </p:spPr>
      </p:sp>
      <p:sp>
        <p:nvSpPr>
          <p:cNvPr id="17" name="motif node 6"/>
          <p:cNvSpPr/>
          <p:nvPr/>
        </p:nvSpPr>
        <p:spPr>
          <a:xfrm>
            <a:off x="10405872" y="4462272"/>
            <a:ext cx="402336" cy="402336"/>
          </a:xfrm>
          <a:prstGeom prst="ellipse">
            <a:avLst/>
          </a:prstGeom>
          <a:solidFill>
            <a:schemeClr val="bg1"/>
          </a:solidFill>
          <a:ln w="38100">
            <a:solidFill>
              <a:schemeClr val="tx1"/>
            </a:solidFill>
            <a:prstDash val="solid"/>
          </a:ln>
        </p:spPr>
      </p:sp>
      <p:sp>
        <p:nvSpPr>
          <p:cNvPr id="18" name="motif node 7"/>
          <p:cNvSpPr/>
          <p:nvPr/>
        </p:nvSpPr>
        <p:spPr>
          <a:xfrm>
            <a:off x="8942832" y="5468112"/>
            <a:ext cx="402336" cy="402336"/>
          </a:xfrm>
          <a:prstGeom prst="ellipse">
            <a:avLst/>
          </a:prstGeom>
          <a:solidFill>
            <a:schemeClr val="bg1"/>
          </a:solidFill>
          <a:ln w="38100">
            <a:solidFill>
              <a:schemeClr val="tx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Bài toán: hành trình tối ưu khi phải đổi tuyến</a:t>
            </a:r>
            <a:endParaRPr lang="en-US" sz="3400" dirty="0"/>
          </a:p>
        </p:txBody>
      </p:sp>
      <p:sp>
        <p:nvSpPr>
          <p:cNvPr id="3" name="r1 icon circle"/>
          <p:cNvSpPr/>
          <p:nvPr/>
        </p:nvSpPr>
        <p:spPr>
          <a:xfrm>
            <a:off x="548640" y="1600200"/>
            <a:ext cx="731520" cy="731520"/>
          </a:xfrm>
          <a:prstGeom prst="ellipse">
            <a:avLst/>
          </a:prstGeom>
          <a:solidFill>
            <a:schemeClr val="accent1"/>
          </a:solidFill>
          <a:ln w="12700">
            <a:solidFill>
              <a:schemeClr val="accent1"/>
            </a:solidFill>
            <a:prstDash val="solid"/>
          </a:ln>
        </p:spPr>
      </p:sp>
      <p:pic>
        <p:nvPicPr>
          <p:cNvPr id="4" name="r1 icon" descr="r1 icon">    </p:cNvPr>
          <p:cNvPicPr>
            <a:picLocks noChangeAspect="1"/>
          </p:cNvPicPr>
          <p:nvPr/>
        </p:nvPicPr>
        <p:blipFill>
          <a:blip r:embed="rId1"/>
          <a:stretch>
            <a:fillRect/>
          </a:stretch>
        </p:blipFill>
        <p:spPr>
          <a:xfrm>
            <a:off x="731520" y="1783080"/>
            <a:ext cx="365760" cy="365760"/>
          </a:xfrm>
          <a:prstGeom prst="rect">
            <a:avLst/>
          </a:prstGeom>
        </p:spPr>
      </p:pic>
      <p:sp>
        <p:nvSpPr>
          <p:cNvPr id="5" name="r1 head"/>
          <p:cNvSpPr txBox="1"/>
          <p:nvPr/>
        </p:nvSpPr>
        <p:spPr>
          <a:xfrm>
            <a:off x="1508760" y="1554480"/>
            <a:ext cx="4434840" cy="365760"/>
          </a:xfrm>
          <a:prstGeom prst="rect">
            <a:avLst/>
          </a:prstGeom>
          <a:noFill/>
          <a:ln/>
        </p:spPr>
        <p:txBody>
          <a:bodyPr wrap="square" lIns="0" tIns="0" rIns="0" bIns="0" rtlCol="0" anchor="t"/>
          <a:lstStyle/>
          <a:p>
            <a:pPr indent="0" marL="0">
              <a:buNone/>
            </a:pPr>
            <a:r>
              <a:rPr lang="en-US" sz="2000" b="1" dirty="0">
                <a:solidFill>
                  <a:schemeClr val="tx1"/>
                </a:solidFill>
              </a:rPr>
              <a:t>Nhanh nhất hoặc ngắn nhất</a:t>
            </a:r>
            <a:endParaRPr lang="en-US" sz="2000" dirty="0"/>
          </a:p>
        </p:txBody>
      </p:sp>
      <p:sp>
        <p:nvSpPr>
          <p:cNvPr id="6" name="r1 desc"/>
          <p:cNvSpPr txBox="1"/>
          <p:nvPr/>
        </p:nvSpPr>
        <p:spPr>
          <a:xfrm>
            <a:off x="1508760" y="1947672"/>
            <a:ext cx="4434840" cy="777240"/>
          </a:xfrm>
          <a:prstGeom prst="rect">
            <a:avLst/>
          </a:prstGeom>
          <a:noFill/>
          <a:ln/>
        </p:spPr>
        <p:txBody>
          <a:bodyPr wrap="square" lIns="0" tIns="0" rIns="0" bIns="0" rtlCol="0" anchor="t"/>
          <a:lstStyle/>
          <a:p>
            <a:pPr indent="0" marL="0">
              <a:buNone/>
            </a:pPr>
            <a:r>
              <a:rPr lang="en-US" sz="1500" dirty="0">
                <a:solidFill>
                  <a:schemeClr val="accent5"/>
                </a:solidFill>
              </a:rPr>
              <a:t>Tối ưu theo tổng thời gian hoặc quãng đường, đã tính cả thời gian chờ xe.</a:t>
            </a:r>
            <a:endParaRPr lang="en-US" sz="1500" dirty="0"/>
          </a:p>
        </p:txBody>
      </p:sp>
      <p:sp>
        <p:nvSpPr>
          <p:cNvPr id="7" name="r2 icon circle"/>
          <p:cNvSpPr/>
          <p:nvPr/>
        </p:nvSpPr>
        <p:spPr>
          <a:xfrm>
            <a:off x="548640" y="3108960"/>
            <a:ext cx="731520" cy="731520"/>
          </a:xfrm>
          <a:prstGeom prst="ellipse">
            <a:avLst/>
          </a:prstGeom>
          <a:solidFill>
            <a:schemeClr val="accent2"/>
          </a:solidFill>
          <a:ln w="12700">
            <a:solidFill>
              <a:schemeClr val="accent2"/>
            </a:solidFill>
            <a:prstDash val="solid"/>
          </a:ln>
        </p:spPr>
      </p:sp>
      <p:pic>
        <p:nvPicPr>
          <p:cNvPr id="8" name="r2 icon" descr="r2 icon">    </p:cNvPr>
          <p:cNvPicPr>
            <a:picLocks noChangeAspect="1"/>
          </p:cNvPicPr>
          <p:nvPr/>
        </p:nvPicPr>
        <p:blipFill>
          <a:blip r:embed="rId2"/>
          <a:stretch>
            <a:fillRect/>
          </a:stretch>
        </p:blipFill>
        <p:spPr>
          <a:xfrm>
            <a:off x="731520" y="3291840"/>
            <a:ext cx="365760" cy="365760"/>
          </a:xfrm>
          <a:prstGeom prst="rect">
            <a:avLst/>
          </a:prstGeom>
        </p:spPr>
      </p:pic>
      <p:sp>
        <p:nvSpPr>
          <p:cNvPr id="9" name="r2 head"/>
          <p:cNvSpPr txBox="1"/>
          <p:nvPr/>
        </p:nvSpPr>
        <p:spPr>
          <a:xfrm>
            <a:off x="1508760" y="3063240"/>
            <a:ext cx="4434840" cy="365760"/>
          </a:xfrm>
          <a:prstGeom prst="rect">
            <a:avLst/>
          </a:prstGeom>
          <a:noFill/>
          <a:ln/>
        </p:spPr>
        <p:txBody>
          <a:bodyPr wrap="square" lIns="0" tIns="0" rIns="0" bIns="0" rtlCol="0" anchor="t"/>
          <a:lstStyle/>
          <a:p>
            <a:pPr indent="0" marL="0">
              <a:buNone/>
            </a:pPr>
            <a:r>
              <a:rPr lang="en-US" sz="2000" b="1" dirty="0">
                <a:solidFill>
                  <a:schemeClr val="tx1"/>
                </a:solidFill>
              </a:rPr>
              <a:t>Ít chuyển tuyến nhất</a:t>
            </a:r>
            <a:endParaRPr lang="en-US" sz="2000" dirty="0"/>
          </a:p>
        </p:txBody>
      </p:sp>
      <p:sp>
        <p:nvSpPr>
          <p:cNvPr id="10" name="r2 desc"/>
          <p:cNvSpPr txBox="1"/>
          <p:nvPr/>
        </p:nvSpPr>
        <p:spPr>
          <a:xfrm>
            <a:off x="1508760" y="3456432"/>
            <a:ext cx="4434840" cy="777240"/>
          </a:xfrm>
          <a:prstGeom prst="rect">
            <a:avLst/>
          </a:prstGeom>
          <a:noFill/>
          <a:ln/>
        </p:spPr>
        <p:txBody>
          <a:bodyPr wrap="square" lIns="0" tIns="0" rIns="0" bIns="0" rtlCol="0" anchor="t"/>
          <a:lstStyle/>
          <a:p>
            <a:pPr indent="0" marL="0">
              <a:buNone/>
            </a:pPr>
            <a:r>
              <a:rPr lang="en-US" sz="1500" dirty="0">
                <a:solidFill>
                  <a:schemeClr val="accent5"/>
                </a:solidFill>
              </a:rPr>
              <a:t>Giảm số lần xuống xe đổi tuyến; nếu bằng nhau thì chọn phương án nhanh hơn.</a:t>
            </a:r>
            <a:endParaRPr lang="en-US" sz="1500" dirty="0"/>
          </a:p>
        </p:txBody>
      </p:sp>
      <p:sp>
        <p:nvSpPr>
          <p:cNvPr id="11" name="r3 icon circle"/>
          <p:cNvSpPr/>
          <p:nvPr/>
        </p:nvSpPr>
        <p:spPr>
          <a:xfrm>
            <a:off x="548640" y="4617720"/>
            <a:ext cx="731520" cy="731520"/>
          </a:xfrm>
          <a:prstGeom prst="ellipse">
            <a:avLst/>
          </a:prstGeom>
          <a:solidFill>
            <a:schemeClr val="accent4"/>
          </a:solidFill>
          <a:ln w="12700">
            <a:solidFill>
              <a:schemeClr val="accent4"/>
            </a:solidFill>
            <a:prstDash val="solid"/>
          </a:ln>
        </p:spPr>
      </p:sp>
      <p:pic>
        <p:nvPicPr>
          <p:cNvPr id="12" name="r3 icon" descr="r3 icon">    </p:cNvPr>
          <p:cNvPicPr>
            <a:picLocks noChangeAspect="1"/>
          </p:cNvPicPr>
          <p:nvPr/>
        </p:nvPicPr>
        <p:blipFill>
          <a:blip r:embed="rId3"/>
          <a:stretch>
            <a:fillRect/>
          </a:stretch>
        </p:blipFill>
        <p:spPr>
          <a:xfrm>
            <a:off x="731520" y="4800600"/>
            <a:ext cx="365760" cy="365760"/>
          </a:xfrm>
          <a:prstGeom prst="rect">
            <a:avLst/>
          </a:prstGeom>
        </p:spPr>
      </p:pic>
      <p:sp>
        <p:nvSpPr>
          <p:cNvPr id="13" name="r3 head"/>
          <p:cNvSpPr txBox="1"/>
          <p:nvPr/>
        </p:nvSpPr>
        <p:spPr>
          <a:xfrm>
            <a:off x="1508760" y="4572000"/>
            <a:ext cx="4434840" cy="365760"/>
          </a:xfrm>
          <a:prstGeom prst="rect">
            <a:avLst/>
          </a:prstGeom>
          <a:noFill/>
          <a:ln/>
        </p:spPr>
        <p:txBody>
          <a:bodyPr wrap="square" lIns="0" tIns="0" rIns="0" bIns="0" rtlCol="0" anchor="t"/>
          <a:lstStyle/>
          <a:p>
            <a:pPr indent="0" marL="0">
              <a:buNone/>
            </a:pPr>
            <a:r>
              <a:rPr lang="en-US" sz="2000" b="1" dirty="0">
                <a:solidFill>
                  <a:schemeClr val="tx1"/>
                </a:solidFill>
              </a:rPr>
              <a:t>Chi phí chờ khi chuyển tuyến</a:t>
            </a:r>
            <a:endParaRPr lang="en-US" sz="2000" dirty="0"/>
          </a:p>
        </p:txBody>
      </p:sp>
      <p:sp>
        <p:nvSpPr>
          <p:cNvPr id="14" name="r3 desc"/>
          <p:cNvSpPr txBox="1"/>
          <p:nvPr/>
        </p:nvSpPr>
        <p:spPr>
          <a:xfrm>
            <a:off x="1508760" y="4965192"/>
            <a:ext cx="4434840" cy="777240"/>
          </a:xfrm>
          <a:prstGeom prst="rect">
            <a:avLst/>
          </a:prstGeom>
          <a:noFill/>
          <a:ln/>
        </p:spPr>
        <p:txBody>
          <a:bodyPr wrap="square" lIns="0" tIns="0" rIns="0" bIns="0" rtlCol="0" anchor="t"/>
          <a:lstStyle/>
          <a:p>
            <a:pPr indent="0" marL="0">
              <a:buNone/>
            </a:pPr>
            <a:r>
              <a:rPr lang="en-US" sz="1500" dirty="0">
                <a:solidFill>
                  <a:schemeClr val="accent5"/>
                </a:solidFill>
              </a:rPr>
              <a:t>Thời gian chờ ước tính bằng giãn cách chuyến của tuyến mới chia 2.</a:t>
            </a:r>
            <a:endParaRPr lang="en-US" sz="1500" dirty="0"/>
          </a:p>
        </p:txBody>
      </p:sp>
      <p:sp>
        <p:nvSpPr>
          <p:cNvPr id="15" name="example card"/>
          <p:cNvSpPr/>
          <p:nvPr/>
        </p:nvSpPr>
        <p:spPr>
          <a:xfrm>
            <a:off x="6217920" y="1554480"/>
            <a:ext cx="5422392" cy="4572000"/>
          </a:xfrm>
          <a:prstGeom prst="roundRect">
            <a:avLst>
              <a:gd name="adj" fmla="val 2400"/>
            </a:avLst>
          </a:prstGeom>
          <a:solidFill>
            <a:schemeClr val="bg2"/>
          </a:solidFill>
          <a:ln w="12700">
            <a:solidFill>
              <a:schemeClr val="bg2"/>
            </a:solidFill>
            <a:prstDash val="solid"/>
          </a:ln>
        </p:spPr>
      </p:sp>
      <p:sp>
        <p:nvSpPr>
          <p:cNvPr id="16" name="example title"/>
          <p:cNvSpPr txBox="1"/>
          <p:nvPr/>
        </p:nvSpPr>
        <p:spPr>
          <a:xfrm>
            <a:off x="6492240" y="1783080"/>
            <a:ext cx="4937760" cy="365760"/>
          </a:xfrm>
          <a:prstGeom prst="rect">
            <a:avLst/>
          </a:prstGeom>
          <a:noFill/>
          <a:ln/>
        </p:spPr>
        <p:txBody>
          <a:bodyPr wrap="square" lIns="0" tIns="0" rIns="0" bIns="0" rtlCol="0" anchor="ctr"/>
          <a:lstStyle/>
          <a:p>
            <a:pPr indent="0" marL="0">
              <a:buNone/>
            </a:pPr>
            <a:r>
              <a:rPr lang="en-US" sz="1800" b="1" dirty="0">
                <a:solidFill>
                  <a:schemeClr val="tx1"/>
                </a:solidFill>
              </a:rPr>
              <a:t>Ví dụ: Bến xe Quận 8 → Bến xe An Sương</a:t>
            </a:r>
            <a:endParaRPr lang="en-US" sz="1800" dirty="0"/>
          </a:p>
        </p:txBody>
      </p:sp>
      <p:sp>
        <p:nvSpPr>
          <p:cNvPr id="17" name="leg 08"/>
          <p:cNvSpPr/>
          <p:nvPr/>
        </p:nvSpPr>
        <p:spPr>
          <a:xfrm>
            <a:off x="7178040" y="3657600"/>
            <a:ext cx="1737360" cy="0"/>
          </a:xfrm>
          <a:prstGeom prst="line">
            <a:avLst/>
          </a:prstGeom>
          <a:noFill/>
          <a:ln w="76200">
            <a:solidFill>
              <a:schemeClr val="accent1"/>
            </a:solidFill>
            <a:prstDash val="solid"/>
          </a:ln>
        </p:spPr>
      </p:sp>
      <p:sp>
        <p:nvSpPr>
          <p:cNvPr id="18" name="leg 04"/>
          <p:cNvSpPr/>
          <p:nvPr/>
        </p:nvSpPr>
        <p:spPr>
          <a:xfrm>
            <a:off x="8915400" y="3657600"/>
            <a:ext cx="1737360" cy="0"/>
          </a:xfrm>
          <a:prstGeom prst="line">
            <a:avLst/>
          </a:prstGeom>
          <a:noFill/>
          <a:ln w="76200">
            <a:solidFill>
              <a:schemeClr val="accent2"/>
            </a:solidFill>
            <a:prstDash val="solid"/>
          </a:ln>
        </p:spPr>
      </p:sp>
      <p:sp>
        <p:nvSpPr>
          <p:cNvPr id="19" name="example node 1"/>
          <p:cNvSpPr/>
          <p:nvPr/>
        </p:nvSpPr>
        <p:spPr>
          <a:xfrm>
            <a:off x="6949440" y="3429000"/>
            <a:ext cx="457200" cy="457200"/>
          </a:xfrm>
          <a:prstGeom prst="ellipse">
            <a:avLst/>
          </a:prstGeom>
          <a:solidFill>
            <a:schemeClr val="bg1"/>
          </a:solidFill>
          <a:ln w="38100">
            <a:solidFill>
              <a:schemeClr val="tx1"/>
            </a:solidFill>
            <a:prstDash val="solid"/>
          </a:ln>
        </p:spPr>
      </p:sp>
      <p:sp>
        <p:nvSpPr>
          <p:cNvPr id="20" name="example node 2"/>
          <p:cNvSpPr/>
          <p:nvPr/>
        </p:nvSpPr>
        <p:spPr>
          <a:xfrm>
            <a:off x="8686800" y="3429000"/>
            <a:ext cx="457200" cy="457200"/>
          </a:xfrm>
          <a:prstGeom prst="ellipse">
            <a:avLst/>
          </a:prstGeom>
          <a:solidFill>
            <a:schemeClr val="bg1"/>
          </a:solidFill>
          <a:ln w="38100">
            <a:solidFill>
              <a:schemeClr val="tx1"/>
            </a:solidFill>
            <a:prstDash val="solid"/>
          </a:ln>
        </p:spPr>
      </p:sp>
      <p:sp>
        <p:nvSpPr>
          <p:cNvPr id="21" name="example node 3"/>
          <p:cNvSpPr/>
          <p:nvPr/>
        </p:nvSpPr>
        <p:spPr>
          <a:xfrm>
            <a:off x="10424160" y="3429000"/>
            <a:ext cx="457200" cy="457200"/>
          </a:xfrm>
          <a:prstGeom prst="ellipse">
            <a:avLst/>
          </a:prstGeom>
          <a:solidFill>
            <a:schemeClr val="bg1"/>
          </a:solidFill>
          <a:ln w="38100">
            <a:solidFill>
              <a:schemeClr val="tx1"/>
            </a:solidFill>
            <a:prstDash val="solid"/>
          </a:ln>
        </p:spPr>
      </p:sp>
      <p:sp>
        <p:nvSpPr>
          <p:cNvPr id="22" name="example label 1"/>
          <p:cNvSpPr txBox="1"/>
          <p:nvPr/>
        </p:nvSpPr>
        <p:spPr>
          <a:xfrm>
            <a:off x="6355080" y="4023360"/>
            <a:ext cx="1645920" cy="320040"/>
          </a:xfrm>
          <a:prstGeom prst="rect">
            <a:avLst/>
          </a:prstGeom>
          <a:noFill/>
          <a:ln/>
        </p:spPr>
        <p:txBody>
          <a:bodyPr wrap="square" lIns="0" tIns="0" rIns="0" bIns="0" rtlCol="0" anchor="ctr"/>
          <a:lstStyle/>
          <a:p>
            <a:pPr algn="ctr" indent="0" marL="0">
              <a:buNone/>
            </a:pPr>
            <a:r>
              <a:rPr lang="en-US" sz="1400" b="1" dirty="0">
                <a:solidFill>
                  <a:schemeClr val="tx1"/>
                </a:solidFill>
              </a:rPr>
              <a:t>Bến xe Quận 8</a:t>
            </a:r>
            <a:endParaRPr lang="en-US" sz="1400" dirty="0"/>
          </a:p>
        </p:txBody>
      </p:sp>
      <p:sp>
        <p:nvSpPr>
          <p:cNvPr id="23" name="example label 2"/>
          <p:cNvSpPr txBox="1"/>
          <p:nvPr/>
        </p:nvSpPr>
        <p:spPr>
          <a:xfrm>
            <a:off x="8092440" y="4023360"/>
            <a:ext cx="1645920" cy="320040"/>
          </a:xfrm>
          <a:prstGeom prst="rect">
            <a:avLst/>
          </a:prstGeom>
          <a:noFill/>
          <a:ln/>
        </p:spPr>
        <p:txBody>
          <a:bodyPr wrap="square" lIns="0" tIns="0" rIns="0" bIns="0" rtlCol="0" anchor="ctr"/>
          <a:lstStyle/>
          <a:p>
            <a:pPr algn="ctr" indent="0" marL="0">
              <a:buNone/>
            </a:pPr>
            <a:r>
              <a:rPr lang="en-US" sz="1400" b="1" dirty="0">
                <a:solidFill>
                  <a:schemeClr val="tx1"/>
                </a:solidFill>
              </a:rPr>
              <a:t>Chợ Bến Thành</a:t>
            </a:r>
            <a:endParaRPr lang="en-US" sz="1400" dirty="0"/>
          </a:p>
        </p:txBody>
      </p:sp>
      <p:sp>
        <p:nvSpPr>
          <p:cNvPr id="24" name="example label 3"/>
          <p:cNvSpPr txBox="1"/>
          <p:nvPr/>
        </p:nvSpPr>
        <p:spPr>
          <a:xfrm>
            <a:off x="9829800" y="4023360"/>
            <a:ext cx="1645920" cy="320040"/>
          </a:xfrm>
          <a:prstGeom prst="rect">
            <a:avLst/>
          </a:prstGeom>
          <a:noFill/>
          <a:ln/>
        </p:spPr>
        <p:txBody>
          <a:bodyPr wrap="square" lIns="0" tIns="0" rIns="0" bIns="0" rtlCol="0" anchor="ctr"/>
          <a:lstStyle/>
          <a:p>
            <a:pPr algn="ctr" indent="0" marL="0">
              <a:buNone/>
            </a:pPr>
            <a:r>
              <a:rPr lang="en-US" sz="1400" b="1" dirty="0">
                <a:solidFill>
                  <a:schemeClr val="tx1"/>
                </a:solidFill>
              </a:rPr>
              <a:t>Bến xe An Sương</a:t>
            </a:r>
            <a:endParaRPr lang="en-US" sz="1400" dirty="0"/>
          </a:p>
        </p:txBody>
      </p:sp>
      <p:sp>
        <p:nvSpPr>
          <p:cNvPr id="25" name="badge 08"/>
          <p:cNvSpPr txBox="1"/>
          <p:nvPr/>
        </p:nvSpPr>
        <p:spPr>
          <a:xfrm>
            <a:off x="7406640" y="3108960"/>
            <a:ext cx="1280160" cy="292608"/>
          </a:xfrm>
          <a:prstGeom prst="rect">
            <a:avLst/>
          </a:prstGeom>
          <a:noFill/>
          <a:ln/>
        </p:spPr>
        <p:txBody>
          <a:bodyPr wrap="square" lIns="0" tIns="0" rIns="0" bIns="0" rtlCol="0" anchor="ctr"/>
          <a:lstStyle/>
          <a:p>
            <a:pPr algn="ctr" indent="0" marL="0">
              <a:buNone/>
            </a:pPr>
            <a:r>
              <a:rPr lang="en-US" sz="1400" b="1" dirty="0">
                <a:solidFill>
                  <a:schemeClr val="accent1"/>
                </a:solidFill>
              </a:rPr>
              <a:t>Tuyến 08</a:t>
            </a:r>
            <a:endParaRPr lang="en-US" sz="1400" dirty="0"/>
          </a:p>
        </p:txBody>
      </p:sp>
      <p:sp>
        <p:nvSpPr>
          <p:cNvPr id="26" name="badge 04"/>
          <p:cNvSpPr txBox="1"/>
          <p:nvPr/>
        </p:nvSpPr>
        <p:spPr>
          <a:xfrm>
            <a:off x="9144000" y="3108960"/>
            <a:ext cx="1280160" cy="292608"/>
          </a:xfrm>
          <a:prstGeom prst="rect">
            <a:avLst/>
          </a:prstGeom>
          <a:noFill/>
          <a:ln/>
        </p:spPr>
        <p:txBody>
          <a:bodyPr wrap="square" lIns="0" tIns="0" rIns="0" bIns="0" rtlCol="0" anchor="ctr"/>
          <a:lstStyle/>
          <a:p>
            <a:pPr algn="ctr" indent="0" marL="0">
              <a:buNone/>
            </a:pPr>
            <a:r>
              <a:rPr lang="en-US" sz="1400" b="1" dirty="0">
                <a:solidFill>
                  <a:schemeClr val="tx1"/>
                </a:solidFill>
              </a:rPr>
              <a:t>Tuyến 04</a:t>
            </a:r>
            <a:endParaRPr lang="en-US" sz="1400" dirty="0"/>
          </a:p>
        </p:txBody>
      </p:sp>
      <p:sp>
        <p:nvSpPr>
          <p:cNvPr id="27" name="transfer tag"/>
          <p:cNvSpPr txBox="1"/>
          <p:nvPr/>
        </p:nvSpPr>
        <p:spPr>
          <a:xfrm>
            <a:off x="7589520" y="4983480"/>
            <a:ext cx="2651760" cy="457200"/>
          </a:xfrm>
          <a:prstGeom prst="roundRect">
            <a:avLst>
              <a:gd name="adj" fmla="val 20000"/>
            </a:avLst>
          </a:prstGeom>
          <a:solidFill>
            <a:schemeClr val="accent2"/>
          </a:solidFill>
          <a:ln/>
        </p:spPr>
        <p:txBody>
          <a:bodyPr wrap="square" lIns="0" tIns="0" rIns="0" bIns="0" rtlCol="0" anchor="ctr"/>
          <a:lstStyle/>
          <a:p>
            <a:pPr algn="ctr" indent="0" marL="0">
              <a:buNone/>
            </a:pPr>
            <a:r>
              <a:rPr lang="en-US" sz="1400" b="1" dirty="0">
                <a:solidFill>
                  <a:schemeClr val="tx1"/>
                </a:solidFill>
              </a:rPr>
              <a:t>Chuyển tuyến · chờ khoảng 5 phút</a:t>
            </a:r>
            <a:endParaRPr lang="en-US" sz="1400" dirty="0"/>
          </a:p>
        </p:txBody>
      </p:sp>
      <p:sp>
        <p:nvSpPr>
          <p:cNvPr id="28" name="transfer pointer"/>
          <p:cNvSpPr/>
          <p:nvPr/>
        </p:nvSpPr>
        <p:spPr>
          <a:xfrm>
            <a:off x="8915400" y="4389120"/>
            <a:ext cx="0" cy="566928"/>
          </a:xfrm>
          <a:prstGeom prst="line">
            <a:avLst/>
          </a:prstGeom>
          <a:noFill/>
          <a:ln w="25400">
            <a:solidFill>
              <a:schemeClr val="accent2"/>
            </a:solidFill>
            <a:prstDash val="dash"/>
          </a:ln>
        </p:spPr>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Vì sao chọn cơ sở dữ liệu đồ thị</a:t>
            </a:r>
            <a:endParaRPr lang="en-US" sz="3400" dirty="0"/>
          </a:p>
        </p:txBody>
      </p:sp>
      <p:sp>
        <p:nvSpPr>
          <p:cNvPr id="3" name="relational card"/>
          <p:cNvSpPr/>
          <p:nvPr/>
        </p:nvSpPr>
        <p:spPr>
          <a:xfrm>
            <a:off x="548640" y="1554480"/>
            <a:ext cx="5394960" cy="4572000"/>
          </a:xfrm>
          <a:prstGeom prst="roundRect">
            <a:avLst>
              <a:gd name="adj" fmla="val 2400"/>
            </a:avLst>
          </a:prstGeom>
          <a:solidFill>
            <a:schemeClr val="bg2"/>
          </a:solidFill>
          <a:ln w="12700">
            <a:solidFill>
              <a:schemeClr val="bg2"/>
            </a:solidFill>
            <a:prstDash val="solid"/>
          </a:ln>
        </p:spPr>
      </p:sp>
      <p:sp>
        <p:nvSpPr>
          <p:cNvPr id="4" name="graph card"/>
          <p:cNvSpPr/>
          <p:nvPr/>
        </p:nvSpPr>
        <p:spPr>
          <a:xfrm>
            <a:off x="6245352" y="1554480"/>
            <a:ext cx="5394960" cy="4572000"/>
          </a:xfrm>
          <a:prstGeom prst="roundRect">
            <a:avLst>
              <a:gd name="adj" fmla="val 2400"/>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5" name="table circle"/>
          <p:cNvSpPr/>
          <p:nvPr/>
        </p:nvSpPr>
        <p:spPr>
          <a:xfrm>
            <a:off x="868680" y="1828800"/>
            <a:ext cx="731520" cy="731520"/>
          </a:xfrm>
          <a:prstGeom prst="ellipse">
            <a:avLst/>
          </a:prstGeom>
          <a:solidFill>
            <a:schemeClr val="accent5"/>
          </a:solidFill>
          <a:ln w="12700">
            <a:solidFill>
              <a:schemeClr val="accent5"/>
            </a:solidFill>
            <a:prstDash val="solid"/>
          </a:ln>
        </p:spPr>
      </p:sp>
      <p:pic>
        <p:nvPicPr>
          <p:cNvPr id="6" name="table" descr="table">    </p:cNvPr>
          <p:cNvPicPr>
            <a:picLocks noChangeAspect="1"/>
          </p:cNvPicPr>
          <p:nvPr/>
        </p:nvPicPr>
        <p:blipFill>
          <a:blip r:embed="rId1"/>
          <a:stretch>
            <a:fillRect/>
          </a:stretch>
        </p:blipFill>
        <p:spPr>
          <a:xfrm>
            <a:off x="1051560" y="2011680"/>
            <a:ext cx="365760" cy="365760"/>
          </a:xfrm>
          <a:prstGeom prst="rect">
            <a:avLst/>
          </a:prstGeom>
        </p:spPr>
      </p:pic>
      <p:sp>
        <p:nvSpPr>
          <p:cNvPr id="7" name="graph circle"/>
          <p:cNvSpPr/>
          <p:nvPr/>
        </p:nvSpPr>
        <p:spPr>
          <a:xfrm>
            <a:off x="6565392" y="1828800"/>
            <a:ext cx="731520" cy="731520"/>
          </a:xfrm>
          <a:prstGeom prst="ellipse">
            <a:avLst/>
          </a:prstGeom>
          <a:solidFill>
            <a:schemeClr val="tx1"/>
          </a:solidFill>
          <a:ln w="12700">
            <a:solidFill>
              <a:schemeClr val="tx1"/>
            </a:solidFill>
            <a:prstDash val="solid"/>
          </a:ln>
        </p:spPr>
      </p:sp>
      <p:pic>
        <p:nvPicPr>
          <p:cNvPr id="8" name="graph" descr="graph">    </p:cNvPr>
          <p:cNvPicPr>
            <a:picLocks noChangeAspect="1"/>
          </p:cNvPicPr>
          <p:nvPr/>
        </p:nvPicPr>
        <p:blipFill>
          <a:blip r:embed="rId2"/>
          <a:stretch>
            <a:fillRect/>
          </a:stretch>
        </p:blipFill>
        <p:spPr>
          <a:xfrm>
            <a:off x="6748272" y="2011680"/>
            <a:ext cx="365760" cy="365760"/>
          </a:xfrm>
          <a:prstGeom prst="rect">
            <a:avLst/>
          </a:prstGeom>
        </p:spPr>
      </p:pic>
      <p:sp>
        <p:nvSpPr>
          <p:cNvPr id="9" name="relational head"/>
          <p:cNvSpPr txBox="1"/>
          <p:nvPr/>
        </p:nvSpPr>
        <p:spPr>
          <a:xfrm>
            <a:off x="1783080" y="2011680"/>
            <a:ext cx="3931920" cy="411480"/>
          </a:xfrm>
          <a:prstGeom prst="rect">
            <a:avLst/>
          </a:prstGeom>
          <a:noFill/>
          <a:ln/>
        </p:spPr>
        <p:txBody>
          <a:bodyPr wrap="square" lIns="0" tIns="0" rIns="0" bIns="0" rtlCol="0" anchor="ctr"/>
          <a:lstStyle/>
          <a:p>
            <a:pPr indent="0" marL="0">
              <a:buNone/>
            </a:pPr>
            <a:r>
              <a:rPr lang="en-US" sz="2200" b="1" dirty="0">
                <a:solidFill>
                  <a:schemeClr val="tx1"/>
                </a:solidFill>
              </a:rPr>
              <a:t>Cơ sở dữ liệu quan hệ</a:t>
            </a:r>
            <a:endParaRPr lang="en-US" sz="2200" dirty="0"/>
          </a:p>
        </p:txBody>
      </p:sp>
      <p:sp>
        <p:nvSpPr>
          <p:cNvPr id="10" name="graph head"/>
          <p:cNvSpPr txBox="1"/>
          <p:nvPr/>
        </p:nvSpPr>
        <p:spPr>
          <a:xfrm>
            <a:off x="7479792" y="2011680"/>
            <a:ext cx="3931920" cy="411480"/>
          </a:xfrm>
          <a:prstGeom prst="rect">
            <a:avLst/>
          </a:prstGeom>
          <a:noFill/>
          <a:ln/>
        </p:spPr>
        <p:txBody>
          <a:bodyPr wrap="square" lIns="0" tIns="0" rIns="0" bIns="0" rtlCol="0" anchor="ctr"/>
          <a:lstStyle/>
          <a:p>
            <a:pPr indent="0" marL="0">
              <a:buNone/>
            </a:pPr>
            <a:r>
              <a:rPr lang="en-US" sz="2200" b="1" dirty="0">
                <a:solidFill>
                  <a:schemeClr val="bg1"/>
                </a:solidFill>
              </a:rPr>
              <a:t>Neo4j (đồ thị)</a:t>
            </a:r>
            <a:endParaRPr lang="en-US" sz="2200" dirty="0"/>
          </a:p>
        </p:txBody>
      </p:sp>
      <p:sp>
        <p:nvSpPr>
          <p:cNvPr id="11" name="relational bullets"/>
          <p:cNvSpPr txBox="1"/>
          <p:nvPr/>
        </p:nvSpPr>
        <p:spPr>
          <a:xfrm>
            <a:off x="868680" y="3017520"/>
            <a:ext cx="4846320" cy="28346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Mỗi bước đi qua một trạm là một phép JOIN</a:t>
            </a:r>
            <a:endParaRPr lang="en-US" sz="1700" dirty="0"/>
          </a:p>
          <a:p>
            <a:pPr marL="342900" indent="-342900">
              <a:spcAft>
                <a:spcPts val="1200"/>
              </a:spcAft>
              <a:buSzPct val="100000"/>
              <a:buChar char="•"/>
            </a:pPr>
            <a:r>
              <a:rPr lang="en-US" sz="1700" dirty="0">
                <a:solidFill>
                  <a:schemeClr val="tx1"/>
                </a:solidFill>
              </a:rPr>
              <a:t>Tìm đường nhiều chặng cần truy vấn đệ quy, khó viết và khó đọc</a:t>
            </a:r>
            <a:endParaRPr lang="en-US" sz="1700" dirty="0"/>
          </a:p>
          <a:p>
            <a:pPr marL="342900" indent="-342900">
              <a:spcAft>
                <a:spcPts val="1200"/>
              </a:spcAft>
              <a:buSzPct val="100000"/>
              <a:buChar char="•"/>
            </a:pPr>
            <a:r>
              <a:rPr lang="en-US" sz="1700" dirty="0">
                <a:solidFill>
                  <a:schemeClr val="tx1"/>
                </a:solidFill>
              </a:rPr>
              <a:t>Thêm hoặc đổi tuyến phải sửa nhiều bảng liên quan</a:t>
            </a:r>
            <a:endParaRPr lang="en-US" sz="1700" dirty="0"/>
          </a:p>
        </p:txBody>
      </p:sp>
      <p:sp>
        <p:nvSpPr>
          <p:cNvPr id="12" name="graph bullets"/>
          <p:cNvSpPr txBox="1"/>
          <p:nvPr/>
        </p:nvSpPr>
        <p:spPr>
          <a:xfrm>
            <a:off x="6565392" y="3017520"/>
            <a:ext cx="4846320" cy="28346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bg1"/>
                </a:solidFill>
              </a:rPr>
              <a:t>Trạm là nút, đoạn đường là cạnh có trọng số</a:t>
            </a:r>
            <a:endParaRPr lang="en-US" sz="1700" dirty="0"/>
          </a:p>
          <a:p>
            <a:pPr marL="342900" indent="-342900">
              <a:spcAft>
                <a:spcPts val="1200"/>
              </a:spcAft>
              <a:buSzPct val="100000"/>
              <a:buChar char="•"/>
            </a:pPr>
            <a:r>
              <a:rPr lang="en-US" sz="1700" dirty="0">
                <a:solidFill>
                  <a:schemeClr val="bg1"/>
                </a:solidFill>
              </a:rPr>
              <a:t>Duyệt theo quan hệ có sẵn, mô tả hành trình tự nhiên bằng Cypher</a:t>
            </a:r>
            <a:endParaRPr lang="en-US" sz="1700" dirty="0"/>
          </a:p>
          <a:p>
            <a:pPr marL="342900" indent="-342900">
              <a:spcAft>
                <a:spcPts val="1200"/>
              </a:spcAft>
              <a:buSzPct val="100000"/>
              <a:buChar char="•"/>
            </a:pPr>
            <a:r>
              <a:rPr lang="en-US" sz="1700" dirty="0">
                <a:solidFill>
                  <a:schemeClr val="bg1"/>
                </a:solidFill>
              </a:rPr>
              <a:t>Thêm hoặc đổi tuyến chỉ là thêm, sửa cạnh</a:t>
            </a:r>
            <a:endParaRPr lang="en-US" sz="17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Mô hình dữ liệu trên Neo4j</a:t>
            </a:r>
            <a:endParaRPr lang="en-US" sz="3400" dirty="0"/>
          </a:p>
        </p:txBody>
      </p:sp>
      <p:sp>
        <p:nvSpPr>
          <p:cNvPr id="3" name="station props"/>
          <p:cNvSpPr/>
          <p:nvPr/>
        </p:nvSpPr>
        <p:spPr>
          <a:xfrm>
            <a:off x="548640" y="1554480"/>
            <a:ext cx="4023360" cy="2148840"/>
          </a:xfrm>
          <a:prstGeom prst="roundRect">
            <a:avLst>
              <a:gd name="adj" fmla="val 5106"/>
            </a:avLst>
          </a:prstGeom>
          <a:solidFill>
            <a:schemeClr val="bg2"/>
          </a:solidFill>
          <a:ln w="12700">
            <a:solidFill>
              <a:schemeClr val="bg2"/>
            </a:solidFill>
            <a:prstDash val="solid"/>
          </a:ln>
        </p:spPr>
      </p:sp>
      <p:sp>
        <p:nvSpPr>
          <p:cNvPr id="4" name="station props head"/>
          <p:cNvSpPr txBox="1"/>
          <p:nvPr/>
        </p:nvSpPr>
        <p:spPr>
          <a:xfrm>
            <a:off x="822960" y="1737360"/>
            <a:ext cx="3474720" cy="365760"/>
          </a:xfrm>
          <a:prstGeom prst="rect">
            <a:avLst/>
          </a:prstGeom>
          <a:noFill/>
          <a:ln/>
        </p:spPr>
        <p:txBody>
          <a:bodyPr wrap="square" lIns="0" tIns="0" rIns="0" bIns="0" rtlCol="0" anchor="ctr"/>
          <a:lstStyle/>
          <a:p>
            <a:pPr indent="0" marL="0">
              <a:buNone/>
            </a:pPr>
            <a:r>
              <a:rPr lang="en-US" sz="2000" b="1" dirty="0">
                <a:solidFill>
                  <a:schemeClr val="accent1"/>
                </a:solidFill>
              </a:rPr>
              <a:t>(:Station)</a:t>
            </a:r>
            <a:endParaRPr lang="en-US" sz="2000" dirty="0"/>
          </a:p>
        </p:txBody>
      </p:sp>
      <p:sp>
        <p:nvSpPr>
          <p:cNvPr id="5" name="station props body"/>
          <p:cNvSpPr txBox="1"/>
          <p:nvPr/>
        </p:nvSpPr>
        <p:spPr>
          <a:xfrm>
            <a:off x="822960" y="2240280"/>
            <a:ext cx="3474720" cy="1188720"/>
          </a:xfrm>
          <a:prstGeom prst="rect">
            <a:avLst/>
          </a:prstGeom>
          <a:noFill/>
          <a:ln/>
        </p:spPr>
        <p:txBody>
          <a:bodyPr wrap="square" lIns="0" tIns="0" rIns="0" bIns="0" rtlCol="0" anchor="t"/>
          <a:lstStyle/>
          <a:p>
            <a:pPr indent="0" marL="0">
              <a:buNone/>
            </a:pPr>
            <a:r>
              <a:rPr lang="en-US" sz="1600" dirty="0">
                <a:solidFill>
                  <a:schemeClr val="tx1"/>
                </a:solidFill>
              </a:rPr>
              <a:t>id, name, district</a:t>
            </a:r>
            <a:endParaRPr lang="en-US" sz="1600" dirty="0"/>
          </a:p>
          <a:p>
            <a:pPr indent="0" marL="0">
              <a:buNone/>
            </a:pPr>
            <a:r>
              <a:rPr lang="en-US" sz="1600" dirty="0">
                <a:solidFill>
                  <a:schemeClr val="tx1"/>
                </a:solidFill>
              </a:rPr>
              <a:t>lat, lon</a:t>
            </a:r>
            <a:endParaRPr lang="en-US" sz="1600" dirty="0"/>
          </a:p>
        </p:txBody>
      </p:sp>
      <p:sp>
        <p:nvSpPr>
          <p:cNvPr id="6" name="route props"/>
          <p:cNvSpPr/>
          <p:nvPr/>
        </p:nvSpPr>
        <p:spPr>
          <a:xfrm>
            <a:off x="548640" y="3931920"/>
            <a:ext cx="4023360" cy="2194560"/>
          </a:xfrm>
          <a:prstGeom prst="roundRect">
            <a:avLst>
              <a:gd name="adj" fmla="val 5000"/>
            </a:avLst>
          </a:prstGeom>
          <a:solidFill>
            <a:schemeClr val="bg2"/>
          </a:solidFill>
          <a:ln w="12700">
            <a:solidFill>
              <a:schemeClr val="bg2"/>
            </a:solidFill>
            <a:prstDash val="solid"/>
          </a:ln>
        </p:spPr>
      </p:sp>
      <p:sp>
        <p:nvSpPr>
          <p:cNvPr id="7" name="route props head"/>
          <p:cNvSpPr txBox="1"/>
          <p:nvPr/>
        </p:nvSpPr>
        <p:spPr>
          <a:xfrm>
            <a:off x="822960" y="4114800"/>
            <a:ext cx="3474720" cy="365760"/>
          </a:xfrm>
          <a:prstGeom prst="rect">
            <a:avLst/>
          </a:prstGeom>
          <a:noFill/>
          <a:ln/>
        </p:spPr>
        <p:txBody>
          <a:bodyPr wrap="square" lIns="0" tIns="0" rIns="0" bIns="0" rtlCol="0" anchor="ctr"/>
          <a:lstStyle/>
          <a:p>
            <a:pPr indent="0" marL="0">
              <a:buNone/>
            </a:pPr>
            <a:r>
              <a:rPr lang="en-US" sz="2000" b="1" dirty="0">
                <a:solidFill>
                  <a:schemeClr val="accent2"/>
                </a:solidFill>
              </a:rPr>
              <a:t>(:BusRoute)</a:t>
            </a:r>
            <a:endParaRPr lang="en-US" sz="2000" dirty="0"/>
          </a:p>
        </p:txBody>
      </p:sp>
      <p:sp>
        <p:nvSpPr>
          <p:cNvPr id="8" name="route props body"/>
          <p:cNvSpPr txBox="1"/>
          <p:nvPr/>
        </p:nvSpPr>
        <p:spPr>
          <a:xfrm>
            <a:off x="822960" y="4617720"/>
            <a:ext cx="3474720" cy="1371600"/>
          </a:xfrm>
          <a:prstGeom prst="rect">
            <a:avLst/>
          </a:prstGeom>
          <a:noFill/>
          <a:ln/>
        </p:spPr>
        <p:txBody>
          <a:bodyPr wrap="square" lIns="0" tIns="0" rIns="0" bIns="0" rtlCol="0" anchor="t"/>
          <a:lstStyle/>
          <a:p>
            <a:pPr indent="0" marL="0">
              <a:buNone/>
            </a:pPr>
            <a:r>
              <a:rPr lang="en-US" sz="1600" dirty="0">
                <a:solidFill>
                  <a:schemeClr val="tx1"/>
                </a:solidFill>
              </a:rPr>
              <a:t>code, name, color</a:t>
            </a:r>
            <a:endParaRPr lang="en-US" sz="1600" dirty="0"/>
          </a:p>
          <a:p>
            <a:pPr indent="0" marL="0">
              <a:buNone/>
            </a:pPr>
            <a:r>
              <a:rPr lang="en-US" sz="1600" dirty="0">
                <a:solidFill>
                  <a:schemeClr val="tx1"/>
                </a:solidFill>
              </a:rPr>
              <a:t>headway_min</a:t>
            </a:r>
            <a:endParaRPr lang="en-US" sz="1600" dirty="0"/>
          </a:p>
          <a:p>
            <a:pPr indent="0" marL="0">
              <a:buNone/>
            </a:pPr>
            <a:r>
              <a:rPr lang="en-US" sz="1600" dirty="0">
                <a:solidFill>
                  <a:schemeClr val="tx1"/>
                </a:solidFill>
              </a:rPr>
              <a:t>first/last_departure</a:t>
            </a:r>
            <a:endParaRPr lang="en-US" sz="1600" dirty="0"/>
          </a:p>
          <a:p>
            <a:pPr indent="0" marL="0">
              <a:buNone/>
            </a:pPr>
            <a:r>
              <a:rPr lang="en-US" sz="1600" dirty="0">
                <a:solidFill>
                  <a:schemeClr val="tx1"/>
                </a:solidFill>
              </a:rPr>
              <a:t>departures_out, departures_in</a:t>
            </a:r>
            <a:endParaRPr lang="en-US" sz="1600" dirty="0"/>
          </a:p>
        </p:txBody>
      </p:sp>
      <p:sp>
        <p:nvSpPr>
          <p:cNvPr id="9" name="route node"/>
          <p:cNvSpPr txBox="1"/>
          <p:nvPr/>
        </p:nvSpPr>
        <p:spPr>
          <a:xfrm>
            <a:off x="7223760" y="1645920"/>
            <a:ext cx="2377440" cy="868680"/>
          </a:xfrm>
          <a:prstGeom prst="roundRect">
            <a:avLst>
              <a:gd name="adj" fmla="val 12632"/>
            </a:avLst>
          </a:prstGeom>
          <a:solidFill>
            <a:schemeClr val="accent2"/>
          </a:solidFill>
          <a:ln/>
        </p:spPr>
        <p:txBody>
          <a:bodyPr wrap="square" lIns="0" tIns="0" rIns="0" bIns="0" rtlCol="0" anchor="ctr"/>
          <a:lstStyle/>
          <a:p>
            <a:pPr algn="ctr" indent="0" marL="0">
              <a:buNone/>
            </a:pPr>
            <a:r>
              <a:rPr lang="en-US" sz="1600" b="1" dirty="0">
                <a:solidFill>
                  <a:schemeClr val="tx1"/>
                </a:solidFill>
              </a:rPr>
              <a:t>(:BusRoute)</a:t>
            </a:r>
            <a:endParaRPr lang="en-US" sz="1600" dirty="0"/>
          </a:p>
          <a:p>
            <a:pPr algn="ctr" indent="0" marL="0">
              <a:buNone/>
            </a:pPr>
            <a:r>
              <a:rPr lang="en-US" sz="1600" b="1" dirty="0">
                <a:solidFill>
                  <a:schemeClr val="tx1"/>
                </a:solidFill>
              </a:rPr>
              <a:t>Tuyến 52</a:t>
            </a:r>
            <a:endParaRPr lang="en-US" sz="1600" dirty="0"/>
          </a:p>
        </p:txBody>
      </p:sp>
      <p:sp>
        <p:nvSpPr>
          <p:cNvPr id="10" name="station A"/>
          <p:cNvSpPr txBox="1"/>
          <p:nvPr/>
        </p:nvSpPr>
        <p:spPr>
          <a:xfrm>
            <a:off x="5212080" y="4434840"/>
            <a:ext cx="1325880" cy="13258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(:Station)</a:t>
            </a:r>
            <a:endParaRPr lang="en-US" sz="1300" dirty="0"/>
          </a:p>
          <a:p>
            <a:pPr algn="ctr" indent="0" marL="0">
              <a:buNone/>
            </a:pPr>
            <a:r>
              <a:rPr lang="en-US" sz="1300" b="1" dirty="0">
                <a:solidFill>
                  <a:schemeClr val="bg1"/>
                </a:solidFill>
              </a:rPr>
              <a:t>Bến Thành</a:t>
            </a:r>
            <a:endParaRPr lang="en-US" sz="1300" dirty="0"/>
          </a:p>
        </p:txBody>
      </p:sp>
      <p:sp>
        <p:nvSpPr>
          <p:cNvPr id="11" name="station B"/>
          <p:cNvSpPr txBox="1"/>
          <p:nvPr/>
        </p:nvSpPr>
        <p:spPr>
          <a:xfrm>
            <a:off x="10058400" y="4434840"/>
            <a:ext cx="1325880" cy="13258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(:Station)</a:t>
            </a:r>
            <a:endParaRPr lang="en-US" sz="1300" dirty="0"/>
          </a:p>
          <a:p>
            <a:pPr algn="ctr" indent="0" marL="0">
              <a:buNone/>
            </a:pPr>
            <a:r>
              <a:rPr lang="en-US" sz="1300" b="1" dirty="0">
                <a:solidFill>
                  <a:schemeClr val="bg1"/>
                </a:solidFill>
              </a:rPr>
              <a:t>Nhà hát TP</a:t>
            </a:r>
            <a:endParaRPr lang="en-US" sz="1300" dirty="0"/>
          </a:p>
        </p:txBody>
      </p:sp>
      <p:sp>
        <p:nvSpPr>
          <p:cNvPr id="12" name="stops_at A"/>
          <p:cNvSpPr/>
          <p:nvPr/>
        </p:nvSpPr>
        <p:spPr>
          <a:xfrm flipH="1">
            <a:off x="5879592" y="2514600"/>
            <a:ext cx="1737360" cy="1920240"/>
          </a:xfrm>
          <a:prstGeom prst="line">
            <a:avLst/>
          </a:prstGeom>
          <a:noFill/>
          <a:ln w="25400">
            <a:solidFill>
              <a:schemeClr val="accent5"/>
            </a:solidFill>
            <a:prstDash val="solid"/>
            <a:tailEnd type="triangle"/>
          </a:ln>
        </p:spPr>
      </p:sp>
      <p:sp>
        <p:nvSpPr>
          <p:cNvPr id="13" name="stops_at B"/>
          <p:cNvSpPr/>
          <p:nvPr/>
        </p:nvSpPr>
        <p:spPr>
          <a:xfrm>
            <a:off x="9235440" y="2514600"/>
            <a:ext cx="1490472" cy="1920240"/>
          </a:xfrm>
          <a:prstGeom prst="line">
            <a:avLst/>
          </a:prstGeom>
          <a:noFill/>
          <a:ln w="25400">
            <a:solidFill>
              <a:schemeClr val="accent5"/>
            </a:solidFill>
            <a:prstDash val="solid"/>
            <a:tailEnd type="triangle"/>
          </a:ln>
        </p:spPr>
      </p:sp>
      <p:sp>
        <p:nvSpPr>
          <p:cNvPr id="14" name="stops_at A label"/>
          <p:cNvSpPr txBox="1"/>
          <p:nvPr/>
        </p:nvSpPr>
        <p:spPr>
          <a:xfrm>
            <a:off x="4892040" y="3200400"/>
            <a:ext cx="2194560" cy="274320"/>
          </a:xfrm>
          <a:prstGeom prst="rect">
            <a:avLst/>
          </a:prstGeom>
          <a:noFill/>
          <a:ln/>
        </p:spPr>
        <p:txBody>
          <a:bodyPr wrap="square" lIns="0" tIns="0" rIns="0" bIns="0" rtlCol="0" anchor="ctr"/>
          <a:lstStyle/>
          <a:p>
            <a:pPr algn="ctr" indent="0" marL="0">
              <a:buNone/>
            </a:pPr>
            <a:r>
              <a:rPr lang="en-US" sz="1300" dirty="0">
                <a:solidFill>
                  <a:schemeClr val="accent5"/>
                </a:solidFill>
              </a:rPr>
              <a:t>[:STOPS_AT {seq: 0}]</a:t>
            </a:r>
            <a:endParaRPr lang="en-US" sz="1300" dirty="0"/>
          </a:p>
        </p:txBody>
      </p:sp>
      <p:sp>
        <p:nvSpPr>
          <p:cNvPr id="15" name="stops_at B label"/>
          <p:cNvSpPr txBox="1"/>
          <p:nvPr/>
        </p:nvSpPr>
        <p:spPr>
          <a:xfrm>
            <a:off x="9509760" y="3200400"/>
            <a:ext cx="2194560" cy="274320"/>
          </a:xfrm>
          <a:prstGeom prst="rect">
            <a:avLst/>
          </a:prstGeom>
          <a:noFill/>
          <a:ln/>
        </p:spPr>
        <p:txBody>
          <a:bodyPr wrap="square" lIns="0" tIns="0" rIns="0" bIns="0" rtlCol="0" anchor="ctr"/>
          <a:lstStyle/>
          <a:p>
            <a:pPr algn="ctr" indent="0" marL="0">
              <a:buNone/>
            </a:pPr>
            <a:r>
              <a:rPr lang="en-US" sz="1300" dirty="0">
                <a:solidFill>
                  <a:schemeClr val="accent5"/>
                </a:solidFill>
              </a:rPr>
              <a:t>[:STOPS_AT {seq: 1}]</a:t>
            </a:r>
            <a:endParaRPr lang="en-US" sz="1300" dirty="0"/>
          </a:p>
        </p:txBody>
      </p:sp>
      <p:sp>
        <p:nvSpPr>
          <p:cNvPr id="16" name="connects forward"/>
          <p:cNvSpPr/>
          <p:nvPr/>
        </p:nvSpPr>
        <p:spPr>
          <a:xfrm>
            <a:off x="6537960" y="4937760"/>
            <a:ext cx="3520440" cy="0"/>
          </a:xfrm>
          <a:prstGeom prst="line">
            <a:avLst/>
          </a:prstGeom>
          <a:noFill/>
          <a:ln w="38100">
            <a:solidFill>
              <a:schemeClr val="accent1"/>
            </a:solidFill>
            <a:prstDash val="solid"/>
            <a:tailEnd type="triangle"/>
          </a:ln>
        </p:spPr>
      </p:sp>
      <p:sp>
        <p:nvSpPr>
          <p:cNvPr id="17" name="connects back"/>
          <p:cNvSpPr/>
          <p:nvPr/>
        </p:nvSpPr>
        <p:spPr>
          <a:xfrm>
            <a:off x="6537960" y="5349240"/>
            <a:ext cx="3520440" cy="0"/>
          </a:xfrm>
          <a:prstGeom prst="line">
            <a:avLst/>
          </a:prstGeom>
          <a:noFill/>
          <a:ln w="38100">
            <a:solidFill>
              <a:schemeClr val="accent1"/>
            </a:solidFill>
            <a:prstDash val="solid"/>
            <a:headEnd type="triangle"/>
          </a:ln>
        </p:spPr>
      </p:sp>
      <p:sp>
        <p:nvSpPr>
          <p:cNvPr id="18" name="connects label"/>
          <p:cNvSpPr txBox="1"/>
          <p:nvPr/>
        </p:nvSpPr>
        <p:spPr>
          <a:xfrm>
            <a:off x="6126480" y="4434840"/>
            <a:ext cx="4343400" cy="320040"/>
          </a:xfrm>
          <a:prstGeom prst="rect">
            <a:avLst/>
          </a:prstGeom>
          <a:noFill/>
          <a:ln/>
        </p:spPr>
        <p:txBody>
          <a:bodyPr wrap="square" lIns="0" tIns="0" rIns="0" bIns="0" rtlCol="0" anchor="ctr"/>
          <a:lstStyle/>
          <a:p>
            <a:pPr algn="ctr" indent="0" marL="0">
              <a:buNone/>
            </a:pPr>
            <a:r>
              <a:rPr lang="en-US" sz="1400" b="1" dirty="0">
                <a:solidFill>
                  <a:schemeClr val="accent1"/>
                </a:solidFill>
              </a:rPr>
              <a:t>[:CONNECTS_TO {route, distance_km, time_min}]</a:t>
            </a:r>
            <a:endParaRPr lang="en-US" sz="1400" dirty="0"/>
          </a:p>
        </p:txBody>
      </p:sp>
      <p:sp>
        <p:nvSpPr>
          <p:cNvPr id="19" name="connects note"/>
          <p:cNvSpPr txBox="1"/>
          <p:nvPr/>
        </p:nvSpPr>
        <p:spPr>
          <a:xfrm>
            <a:off x="6126480" y="5669280"/>
            <a:ext cx="4343400" cy="320040"/>
          </a:xfrm>
          <a:prstGeom prst="rect">
            <a:avLst/>
          </a:prstGeom>
          <a:noFill/>
          <a:ln/>
        </p:spPr>
        <p:txBody>
          <a:bodyPr wrap="square" lIns="0" tIns="0" rIns="0" bIns="0" rtlCol="0" anchor="ctr"/>
          <a:lstStyle/>
          <a:p>
            <a:pPr algn="ctr" indent="0" marL="0">
              <a:buNone/>
            </a:pPr>
            <a:r>
              <a:rPr lang="en-US" sz="1300" dirty="0">
                <a:solidFill>
                  <a:schemeClr val="accent5"/>
                </a:solidFill>
              </a:rPr>
              <a:t>Mỗi đoạn đường có hai cạnh có hướng, trọng số riêng</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Dữ liệu mẫu: mạng lưới xe buýt TP.HCM</a:t>
            </a:r>
            <a:endParaRPr lang="en-US" sz="3400" dirty="0"/>
          </a:p>
        </p:txBody>
      </p:sp>
      <p:sp>
        <p:nvSpPr>
          <p:cNvPr id="3" name="stat card 1"/>
          <p:cNvSpPr/>
          <p:nvPr/>
        </p:nvSpPr>
        <p:spPr>
          <a:xfrm>
            <a:off x="548640" y="1508760"/>
            <a:ext cx="3566160" cy="1325880"/>
          </a:xfrm>
          <a:prstGeom prst="roundRect">
            <a:avLst>
              <a:gd name="adj" fmla="val 8276"/>
            </a:avLst>
          </a:prstGeom>
          <a:solidFill>
            <a:schemeClr val="bg2"/>
          </a:solidFill>
          <a:ln w="12700">
            <a:solidFill>
              <a:schemeClr val="bg2"/>
            </a:solidFill>
            <a:prstDash val="solid"/>
          </a:ln>
        </p:spPr>
      </p:sp>
      <p:sp>
        <p:nvSpPr>
          <p:cNvPr id="4" name="stat number 1"/>
          <p:cNvSpPr txBox="1"/>
          <p:nvPr/>
        </p:nvSpPr>
        <p:spPr>
          <a:xfrm>
            <a:off x="822960" y="1554480"/>
            <a:ext cx="1554480" cy="1234440"/>
          </a:xfrm>
          <a:prstGeom prst="rect">
            <a:avLst/>
          </a:prstGeom>
          <a:noFill/>
          <a:ln/>
        </p:spPr>
        <p:txBody>
          <a:bodyPr wrap="square" lIns="0" tIns="0" rIns="0" bIns="0" rtlCol="0" anchor="ctr"/>
          <a:lstStyle/>
          <a:p>
            <a:pPr indent="0" marL="0">
              <a:buNone/>
            </a:pPr>
            <a:r>
              <a:rPr lang="en-US" sz="5400" b="1" dirty="0">
                <a:solidFill>
                  <a:schemeClr val="accent1"/>
                </a:solidFill>
              </a:rPr>
              <a:t>57</a:t>
            </a:r>
            <a:endParaRPr lang="en-US" sz="5400" dirty="0"/>
          </a:p>
        </p:txBody>
      </p:sp>
      <p:sp>
        <p:nvSpPr>
          <p:cNvPr id="5" name="stat label 1"/>
          <p:cNvSpPr txBox="1"/>
          <p:nvPr/>
        </p:nvSpPr>
        <p:spPr>
          <a:xfrm>
            <a:off x="2377440" y="1554480"/>
            <a:ext cx="1645920" cy="1234440"/>
          </a:xfrm>
          <a:prstGeom prst="rect">
            <a:avLst/>
          </a:prstGeom>
          <a:noFill/>
          <a:ln/>
        </p:spPr>
        <p:txBody>
          <a:bodyPr wrap="square" lIns="0" tIns="0" rIns="0" bIns="0" rtlCol="0" anchor="ctr"/>
          <a:lstStyle/>
          <a:p>
            <a:pPr indent="0" marL="0">
              <a:buNone/>
            </a:pPr>
            <a:r>
              <a:rPr lang="en-US" sz="1600" dirty="0">
                <a:solidFill>
                  <a:schemeClr val="tx1"/>
                </a:solidFill>
              </a:rPr>
              <a:t>trạm dừng (:Station)</a:t>
            </a:r>
            <a:endParaRPr lang="en-US" sz="1600" dirty="0"/>
          </a:p>
        </p:txBody>
      </p:sp>
      <p:sp>
        <p:nvSpPr>
          <p:cNvPr id="6" name="stat card 2"/>
          <p:cNvSpPr/>
          <p:nvPr/>
        </p:nvSpPr>
        <p:spPr>
          <a:xfrm>
            <a:off x="4311396" y="1508760"/>
            <a:ext cx="3566160" cy="1325880"/>
          </a:xfrm>
          <a:prstGeom prst="roundRect">
            <a:avLst>
              <a:gd name="adj" fmla="val 8276"/>
            </a:avLst>
          </a:prstGeom>
          <a:solidFill>
            <a:schemeClr val="bg2"/>
          </a:solidFill>
          <a:ln w="12700">
            <a:solidFill>
              <a:schemeClr val="bg2"/>
            </a:solidFill>
            <a:prstDash val="solid"/>
          </a:ln>
        </p:spPr>
      </p:sp>
      <p:sp>
        <p:nvSpPr>
          <p:cNvPr id="7" name="stat number 2"/>
          <p:cNvSpPr txBox="1"/>
          <p:nvPr/>
        </p:nvSpPr>
        <p:spPr>
          <a:xfrm>
            <a:off x="4585716" y="1554480"/>
            <a:ext cx="1554480" cy="1234440"/>
          </a:xfrm>
          <a:prstGeom prst="rect">
            <a:avLst/>
          </a:prstGeom>
          <a:noFill/>
          <a:ln/>
        </p:spPr>
        <p:txBody>
          <a:bodyPr wrap="square" lIns="0" tIns="0" rIns="0" bIns="0" rtlCol="0" anchor="ctr"/>
          <a:lstStyle/>
          <a:p>
            <a:pPr indent="0" marL="0">
              <a:buNone/>
            </a:pPr>
            <a:r>
              <a:rPr lang="en-US" sz="5400" b="1" dirty="0">
                <a:solidFill>
                  <a:schemeClr val="accent2"/>
                </a:solidFill>
              </a:rPr>
              <a:t>10</a:t>
            </a:r>
            <a:endParaRPr lang="en-US" sz="5400" dirty="0"/>
          </a:p>
        </p:txBody>
      </p:sp>
      <p:sp>
        <p:nvSpPr>
          <p:cNvPr id="8" name="stat label 2"/>
          <p:cNvSpPr txBox="1"/>
          <p:nvPr/>
        </p:nvSpPr>
        <p:spPr>
          <a:xfrm>
            <a:off x="6140196" y="1554480"/>
            <a:ext cx="1645920" cy="1234440"/>
          </a:xfrm>
          <a:prstGeom prst="rect">
            <a:avLst/>
          </a:prstGeom>
          <a:noFill/>
          <a:ln/>
        </p:spPr>
        <p:txBody>
          <a:bodyPr wrap="square" lIns="0" tIns="0" rIns="0" bIns="0" rtlCol="0" anchor="ctr"/>
          <a:lstStyle/>
          <a:p>
            <a:pPr indent="0" marL="0">
              <a:buNone/>
            </a:pPr>
            <a:r>
              <a:rPr lang="en-US" sz="1600" dirty="0">
                <a:solidFill>
                  <a:schemeClr val="tx1"/>
                </a:solidFill>
              </a:rPr>
              <a:t>tuyến xe (:BusRoute)</a:t>
            </a:r>
            <a:endParaRPr lang="en-US" sz="1600" dirty="0"/>
          </a:p>
        </p:txBody>
      </p:sp>
      <p:sp>
        <p:nvSpPr>
          <p:cNvPr id="9" name="stat card 3"/>
          <p:cNvSpPr/>
          <p:nvPr/>
        </p:nvSpPr>
        <p:spPr>
          <a:xfrm>
            <a:off x="8074152" y="1508760"/>
            <a:ext cx="3566160" cy="1325880"/>
          </a:xfrm>
          <a:prstGeom prst="roundRect">
            <a:avLst>
              <a:gd name="adj" fmla="val 8276"/>
            </a:avLst>
          </a:prstGeom>
          <a:solidFill>
            <a:schemeClr val="bg2"/>
          </a:solidFill>
          <a:ln w="12700">
            <a:solidFill>
              <a:schemeClr val="bg2"/>
            </a:solidFill>
            <a:prstDash val="solid"/>
          </a:ln>
        </p:spPr>
      </p:sp>
      <p:sp>
        <p:nvSpPr>
          <p:cNvPr id="10" name="stat number 3"/>
          <p:cNvSpPr txBox="1"/>
          <p:nvPr/>
        </p:nvSpPr>
        <p:spPr>
          <a:xfrm>
            <a:off x="8348472" y="1554480"/>
            <a:ext cx="1554480" cy="1234440"/>
          </a:xfrm>
          <a:prstGeom prst="rect">
            <a:avLst/>
          </a:prstGeom>
          <a:noFill/>
          <a:ln/>
        </p:spPr>
        <p:txBody>
          <a:bodyPr wrap="square" lIns="0" tIns="0" rIns="0" bIns="0" rtlCol="0" anchor="ctr"/>
          <a:lstStyle/>
          <a:p>
            <a:pPr indent="0" marL="0">
              <a:buNone/>
            </a:pPr>
            <a:r>
              <a:rPr lang="en-US" sz="5400" b="1" dirty="0">
                <a:solidFill>
                  <a:schemeClr val="accent4"/>
                </a:solidFill>
              </a:rPr>
              <a:t>198</a:t>
            </a:r>
            <a:endParaRPr lang="en-US" sz="5400" dirty="0"/>
          </a:p>
        </p:txBody>
      </p:sp>
      <p:sp>
        <p:nvSpPr>
          <p:cNvPr id="11" name="stat label 3"/>
          <p:cNvSpPr txBox="1"/>
          <p:nvPr/>
        </p:nvSpPr>
        <p:spPr>
          <a:xfrm>
            <a:off x="9902952" y="1554480"/>
            <a:ext cx="1645920" cy="1234440"/>
          </a:xfrm>
          <a:prstGeom prst="rect">
            <a:avLst/>
          </a:prstGeom>
          <a:noFill/>
          <a:ln/>
        </p:spPr>
        <p:txBody>
          <a:bodyPr wrap="square" lIns="0" tIns="0" rIns="0" bIns="0" rtlCol="0" anchor="ctr"/>
          <a:lstStyle/>
          <a:p>
            <a:pPr indent="0" marL="0">
              <a:buNone/>
            </a:pPr>
            <a:r>
              <a:rPr lang="en-US" sz="1600" dirty="0">
                <a:solidFill>
                  <a:schemeClr val="tx1"/>
                </a:solidFill>
              </a:rPr>
              <a:t>cạnh [:CONNECTS_TO]</a:t>
            </a:r>
            <a:endParaRPr lang="en-US" sz="1600" dirty="0"/>
          </a:p>
        </p:txBody>
      </p:sp>
      <p:graphicFrame>
        <p:nvGraphicFramePr>
          <p:cNvPr id="12" name="Chart 0" descr=""/>
          <p:cNvGraphicFramePr/>
          <p:nvPr/>
        </p:nvGraphicFramePr>
        <p:xfrm>
          <a:off x="548640" y="3063240"/>
          <a:ext cx="11091672" cy="32461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Kiến trúc hệ thống ba lớp</a:t>
            </a:r>
            <a:endParaRPr lang="en-US" sz="3400" dirty="0"/>
          </a:p>
        </p:txBody>
      </p:sp>
      <p:sp>
        <p:nvSpPr>
          <p:cNvPr id="3" name="layer card 1"/>
          <p:cNvSpPr/>
          <p:nvPr/>
        </p:nvSpPr>
        <p:spPr>
          <a:xfrm>
            <a:off x="548640" y="1600200"/>
            <a:ext cx="3383280" cy="3977640"/>
          </a:xfrm>
          <a:prstGeom prst="roundRect">
            <a:avLst>
              <a:gd name="adj" fmla="val 3243"/>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4" name="layer icon 1 circle"/>
          <p:cNvSpPr/>
          <p:nvPr/>
        </p:nvSpPr>
        <p:spPr>
          <a:xfrm>
            <a:off x="822960" y="1874520"/>
            <a:ext cx="822960" cy="822960"/>
          </a:xfrm>
          <a:prstGeom prst="ellipse">
            <a:avLst/>
          </a:prstGeom>
          <a:solidFill>
            <a:schemeClr val="accent4"/>
          </a:solidFill>
          <a:ln w="12700">
            <a:solidFill>
              <a:schemeClr val="accent4"/>
            </a:solidFill>
            <a:prstDash val="solid"/>
          </a:ln>
        </p:spPr>
      </p:sp>
      <p:pic>
        <p:nvPicPr>
          <p:cNvPr id="5" name="layer icon 1" descr="layer icon 1">    </p:cNvPr>
          <p:cNvPicPr>
            <a:picLocks noChangeAspect="1"/>
          </p:cNvPicPr>
          <p:nvPr/>
        </p:nvPicPr>
        <p:blipFill>
          <a:blip r:embed="rId1"/>
          <a:stretch>
            <a:fillRect/>
          </a:stretch>
        </p:blipFill>
        <p:spPr>
          <a:xfrm>
            <a:off x="1028700" y="2080260"/>
            <a:ext cx="411480" cy="411480"/>
          </a:xfrm>
          <a:prstGeom prst="rect">
            <a:avLst/>
          </a:prstGeom>
        </p:spPr>
      </p:pic>
      <p:sp>
        <p:nvSpPr>
          <p:cNvPr id="6" name="layer head 1"/>
          <p:cNvSpPr txBox="1"/>
          <p:nvPr/>
        </p:nvSpPr>
        <p:spPr>
          <a:xfrm>
            <a:off x="1828800" y="1920240"/>
            <a:ext cx="2011680" cy="411480"/>
          </a:xfrm>
          <a:prstGeom prst="rect">
            <a:avLst/>
          </a:prstGeom>
          <a:noFill/>
          <a:ln/>
        </p:spPr>
        <p:txBody>
          <a:bodyPr wrap="square" lIns="0" tIns="0" rIns="0" bIns="0" rtlCol="0" anchor="ctr"/>
          <a:lstStyle/>
          <a:p>
            <a:pPr indent="0" marL="0">
              <a:buNone/>
            </a:pPr>
            <a:r>
              <a:rPr lang="en-US" sz="2200" b="1" dirty="0">
                <a:solidFill>
                  <a:schemeClr val="tx1"/>
                </a:solidFill>
              </a:rPr>
              <a:t>Trình duyệt</a:t>
            </a:r>
            <a:endParaRPr lang="en-US" sz="2200" dirty="0"/>
          </a:p>
        </p:txBody>
      </p:sp>
      <p:sp>
        <p:nvSpPr>
          <p:cNvPr id="7" name="layer sub 1"/>
          <p:cNvSpPr txBox="1"/>
          <p:nvPr/>
        </p:nvSpPr>
        <p:spPr>
          <a:xfrm>
            <a:off x="1828800" y="2377440"/>
            <a:ext cx="2011680" cy="320040"/>
          </a:xfrm>
          <a:prstGeom prst="rect">
            <a:avLst/>
          </a:prstGeom>
          <a:noFill/>
          <a:ln/>
        </p:spPr>
        <p:txBody>
          <a:bodyPr wrap="square" lIns="0" tIns="0" rIns="0" bIns="0" rtlCol="0" anchor="ctr"/>
          <a:lstStyle/>
          <a:p>
            <a:pPr indent="0" marL="0">
              <a:buNone/>
            </a:pPr>
            <a:r>
              <a:rPr lang="en-US" sz="1400" dirty="0">
                <a:solidFill>
                  <a:schemeClr val="accent5"/>
                </a:solidFill>
              </a:rPr>
              <a:t>HTML · CSS · JavaScript</a:t>
            </a:r>
            <a:endParaRPr lang="en-US" sz="1400" dirty="0"/>
          </a:p>
        </p:txBody>
      </p:sp>
      <p:sp>
        <p:nvSpPr>
          <p:cNvPr id="8" name="layer bullets 1"/>
          <p:cNvSpPr txBox="1"/>
          <p:nvPr/>
        </p:nvSpPr>
        <p:spPr>
          <a:xfrm>
            <a:off x="822960" y="3108960"/>
            <a:ext cx="2880360" cy="22860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Form tìm đường, so sánh phương án</a:t>
            </a:r>
            <a:endParaRPr lang="en-US" sz="1500" dirty="0"/>
          </a:p>
          <a:p>
            <a:pPr marL="342900" indent="-342900">
              <a:spcAft>
                <a:spcPts val="1200"/>
              </a:spcAft>
              <a:buSzPct val="100000"/>
              <a:buChar char="•"/>
            </a:pPr>
            <a:r>
              <a:rPr lang="en-US" sz="1500" dirty="0">
                <a:solidFill>
                  <a:schemeClr val="tx1"/>
                </a:solidFill>
              </a:rPr>
              <a:t>Trang quản trị CRUD</a:t>
            </a:r>
            <a:endParaRPr lang="en-US" sz="1500" dirty="0"/>
          </a:p>
          <a:p>
            <a:pPr marL="342900" indent="-342900">
              <a:spcAft>
                <a:spcPts val="1200"/>
              </a:spcAft>
              <a:buSzPct val="100000"/>
              <a:buChar char="•"/>
            </a:pPr>
            <a:r>
              <a:rPr lang="en-US" sz="1500" dirty="0">
                <a:solidFill>
                  <a:schemeClr val="tx1"/>
                </a:solidFill>
              </a:rPr>
              <a:t>vis-network vẽ đồ thị</a:t>
            </a:r>
            <a:endParaRPr lang="en-US" sz="1500" dirty="0"/>
          </a:p>
        </p:txBody>
      </p:sp>
      <p:sp>
        <p:nvSpPr>
          <p:cNvPr id="9" name="arrow 1"/>
          <p:cNvSpPr/>
          <p:nvPr/>
        </p:nvSpPr>
        <p:spPr>
          <a:xfrm>
            <a:off x="4005072" y="3337560"/>
            <a:ext cx="310896" cy="411480"/>
          </a:xfrm>
          <a:prstGeom prst="rightArrow">
            <a:avLst/>
          </a:prstGeom>
          <a:solidFill>
            <a:schemeClr val="accent5"/>
          </a:solidFill>
          <a:ln w="12700">
            <a:solidFill>
              <a:schemeClr val="accent5"/>
            </a:solidFill>
            <a:prstDash val="solid"/>
          </a:ln>
        </p:spPr>
      </p:sp>
      <p:sp>
        <p:nvSpPr>
          <p:cNvPr id="10" name="layer card 2"/>
          <p:cNvSpPr/>
          <p:nvPr/>
        </p:nvSpPr>
        <p:spPr>
          <a:xfrm>
            <a:off x="4389120" y="1600200"/>
            <a:ext cx="3383280" cy="3977640"/>
          </a:xfrm>
          <a:prstGeom prst="roundRect">
            <a:avLst>
              <a:gd name="adj" fmla="val 3243"/>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1" name="layer icon 2 circle"/>
          <p:cNvSpPr/>
          <p:nvPr/>
        </p:nvSpPr>
        <p:spPr>
          <a:xfrm>
            <a:off x="4663440" y="1874520"/>
            <a:ext cx="822960" cy="822960"/>
          </a:xfrm>
          <a:prstGeom prst="ellipse">
            <a:avLst/>
          </a:prstGeom>
          <a:solidFill>
            <a:schemeClr val="accent1"/>
          </a:solidFill>
          <a:ln w="12700">
            <a:solidFill>
              <a:schemeClr val="accent1"/>
            </a:solidFill>
            <a:prstDash val="solid"/>
          </a:ln>
        </p:spPr>
      </p:sp>
      <p:pic>
        <p:nvPicPr>
          <p:cNvPr id="12" name="layer icon 2" descr="layer icon 2">    </p:cNvPr>
          <p:cNvPicPr>
            <a:picLocks noChangeAspect="1"/>
          </p:cNvPicPr>
          <p:nvPr/>
        </p:nvPicPr>
        <p:blipFill>
          <a:blip r:embed="rId2"/>
          <a:stretch>
            <a:fillRect/>
          </a:stretch>
        </p:blipFill>
        <p:spPr>
          <a:xfrm>
            <a:off x="4869180" y="2080260"/>
            <a:ext cx="411480" cy="411480"/>
          </a:xfrm>
          <a:prstGeom prst="rect">
            <a:avLst/>
          </a:prstGeom>
        </p:spPr>
      </p:pic>
      <p:sp>
        <p:nvSpPr>
          <p:cNvPr id="13" name="layer head 2"/>
          <p:cNvSpPr txBox="1"/>
          <p:nvPr/>
        </p:nvSpPr>
        <p:spPr>
          <a:xfrm>
            <a:off x="5669280" y="1920240"/>
            <a:ext cx="2011680" cy="411480"/>
          </a:xfrm>
          <a:prstGeom prst="rect">
            <a:avLst/>
          </a:prstGeom>
          <a:noFill/>
          <a:ln/>
        </p:spPr>
        <p:txBody>
          <a:bodyPr wrap="square" lIns="0" tIns="0" rIns="0" bIns="0" rtlCol="0" anchor="ctr"/>
          <a:lstStyle/>
          <a:p>
            <a:pPr indent="0" marL="0">
              <a:buNone/>
            </a:pPr>
            <a:r>
              <a:rPr lang="en-US" sz="2200" b="1" dirty="0">
                <a:solidFill>
                  <a:schemeClr val="tx1"/>
                </a:solidFill>
              </a:rPr>
              <a:t>FastAPI</a:t>
            </a:r>
            <a:endParaRPr lang="en-US" sz="2200" dirty="0"/>
          </a:p>
        </p:txBody>
      </p:sp>
      <p:sp>
        <p:nvSpPr>
          <p:cNvPr id="14" name="layer sub 2"/>
          <p:cNvSpPr txBox="1"/>
          <p:nvPr/>
        </p:nvSpPr>
        <p:spPr>
          <a:xfrm>
            <a:off x="5669280" y="2377440"/>
            <a:ext cx="2011680" cy="320040"/>
          </a:xfrm>
          <a:prstGeom prst="rect">
            <a:avLst/>
          </a:prstGeom>
          <a:noFill/>
          <a:ln/>
        </p:spPr>
        <p:txBody>
          <a:bodyPr wrap="square" lIns="0" tIns="0" rIns="0" bIns="0" rtlCol="0" anchor="ctr"/>
          <a:lstStyle/>
          <a:p>
            <a:pPr indent="0" marL="0">
              <a:buNone/>
            </a:pPr>
            <a:r>
              <a:rPr lang="en-US" sz="1400" dirty="0">
                <a:solidFill>
                  <a:schemeClr val="accent5"/>
                </a:solidFill>
              </a:rPr>
              <a:t>Python</a:t>
            </a:r>
            <a:endParaRPr lang="en-US" sz="1400" dirty="0"/>
          </a:p>
        </p:txBody>
      </p:sp>
      <p:sp>
        <p:nvSpPr>
          <p:cNvPr id="15" name="layer bullets 2"/>
          <p:cNvSpPr txBox="1"/>
          <p:nvPr/>
        </p:nvSpPr>
        <p:spPr>
          <a:xfrm>
            <a:off x="4663440" y="3108960"/>
            <a:ext cx="2880360" cy="22860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repository.py: truy vấn Cypher</a:t>
            </a:r>
            <a:endParaRPr lang="en-US" sz="1500" dirty="0"/>
          </a:p>
          <a:p>
            <a:pPr marL="342900" indent="-342900">
              <a:spcAft>
                <a:spcPts val="1200"/>
              </a:spcAft>
              <a:buSzPct val="100000"/>
              <a:buChar char="•"/>
            </a:pPr>
            <a:r>
              <a:rPr lang="en-US" sz="1500" dirty="0">
                <a:solidFill>
                  <a:schemeClr val="tx1"/>
                </a:solidFill>
              </a:rPr>
              <a:t>routing.py: Dijkstra trong RAM</a:t>
            </a:r>
            <a:endParaRPr lang="en-US" sz="1500" dirty="0"/>
          </a:p>
          <a:p>
            <a:pPr marL="342900" indent="-342900">
              <a:spcAft>
                <a:spcPts val="1200"/>
              </a:spcAft>
              <a:buSzPct val="100000"/>
              <a:buChar char="•"/>
            </a:pPr>
            <a:r>
              <a:rPr lang="en-US" sz="1500" dirty="0">
                <a:solidFill>
                  <a:schemeClr val="tx1"/>
                </a:solidFill>
              </a:rPr>
              <a:t>Pydantic kiểm tra dữ liệu vào</a:t>
            </a:r>
            <a:endParaRPr lang="en-US" sz="1500" dirty="0"/>
          </a:p>
        </p:txBody>
      </p:sp>
      <p:sp>
        <p:nvSpPr>
          <p:cNvPr id="16" name="arrow 2"/>
          <p:cNvSpPr/>
          <p:nvPr/>
        </p:nvSpPr>
        <p:spPr>
          <a:xfrm>
            <a:off x="7845552" y="3337560"/>
            <a:ext cx="310896" cy="411480"/>
          </a:xfrm>
          <a:prstGeom prst="rightArrow">
            <a:avLst/>
          </a:prstGeom>
          <a:solidFill>
            <a:schemeClr val="accent5"/>
          </a:solidFill>
          <a:ln w="12700">
            <a:solidFill>
              <a:schemeClr val="accent5"/>
            </a:solidFill>
            <a:prstDash val="solid"/>
          </a:ln>
        </p:spPr>
      </p:sp>
      <p:sp>
        <p:nvSpPr>
          <p:cNvPr id="17" name="layer card 3"/>
          <p:cNvSpPr/>
          <p:nvPr/>
        </p:nvSpPr>
        <p:spPr>
          <a:xfrm>
            <a:off x="8229600" y="1600200"/>
            <a:ext cx="3383280" cy="3977640"/>
          </a:xfrm>
          <a:prstGeom prst="roundRect">
            <a:avLst>
              <a:gd name="adj" fmla="val 3243"/>
            </a:avLst>
          </a:prstGeom>
          <a:solidFill>
            <a:schemeClr val="bg2"/>
          </a:solidFill>
          <a:ln w="12700">
            <a:solidFill>
              <a:schemeClr val="bg2"/>
            </a:solidFill>
            <a:prstDash val="solid"/>
          </a:ln>
          <a:effectLst>
            <a:outerShdw sx="100000" sy="100000" kx="0" ky="0" algn="bl" rotWithShape="0" blurRad="101600" dist="25400" dir="5400000">
              <a:srgbClr val="000000">
                <a:alpha val="14000"/>
              </a:srgbClr>
            </a:outerShdw>
          </a:effectLst>
        </p:spPr>
      </p:sp>
      <p:sp>
        <p:nvSpPr>
          <p:cNvPr id="18" name="layer icon 3 circle"/>
          <p:cNvSpPr/>
          <p:nvPr/>
        </p:nvSpPr>
        <p:spPr>
          <a:xfrm>
            <a:off x="8503920" y="1874520"/>
            <a:ext cx="822960" cy="822960"/>
          </a:xfrm>
          <a:prstGeom prst="ellipse">
            <a:avLst/>
          </a:prstGeom>
          <a:solidFill>
            <a:schemeClr val="accent2"/>
          </a:solidFill>
          <a:ln w="12700">
            <a:solidFill>
              <a:schemeClr val="accent2"/>
            </a:solidFill>
            <a:prstDash val="solid"/>
          </a:ln>
        </p:spPr>
      </p:sp>
      <p:pic>
        <p:nvPicPr>
          <p:cNvPr id="19" name="layer icon 3" descr="layer icon 3">    </p:cNvPr>
          <p:cNvPicPr>
            <a:picLocks noChangeAspect="1"/>
          </p:cNvPicPr>
          <p:nvPr/>
        </p:nvPicPr>
        <p:blipFill>
          <a:blip r:embed="rId3"/>
          <a:stretch>
            <a:fillRect/>
          </a:stretch>
        </p:blipFill>
        <p:spPr>
          <a:xfrm>
            <a:off x="8709660" y="2080260"/>
            <a:ext cx="411480" cy="411480"/>
          </a:xfrm>
          <a:prstGeom prst="rect">
            <a:avLst/>
          </a:prstGeom>
        </p:spPr>
      </p:pic>
      <p:sp>
        <p:nvSpPr>
          <p:cNvPr id="20" name="layer head 3"/>
          <p:cNvSpPr txBox="1"/>
          <p:nvPr/>
        </p:nvSpPr>
        <p:spPr>
          <a:xfrm>
            <a:off x="9509760" y="1920240"/>
            <a:ext cx="2011680" cy="411480"/>
          </a:xfrm>
          <a:prstGeom prst="rect">
            <a:avLst/>
          </a:prstGeom>
          <a:noFill/>
          <a:ln/>
        </p:spPr>
        <p:txBody>
          <a:bodyPr wrap="square" lIns="0" tIns="0" rIns="0" bIns="0" rtlCol="0" anchor="ctr"/>
          <a:lstStyle/>
          <a:p>
            <a:pPr indent="0" marL="0">
              <a:buNone/>
            </a:pPr>
            <a:r>
              <a:rPr lang="en-US" sz="2200" b="1" dirty="0">
                <a:solidFill>
                  <a:schemeClr val="tx1"/>
                </a:solidFill>
              </a:rPr>
              <a:t>Neo4j</a:t>
            </a:r>
            <a:endParaRPr lang="en-US" sz="2200" dirty="0"/>
          </a:p>
        </p:txBody>
      </p:sp>
      <p:sp>
        <p:nvSpPr>
          <p:cNvPr id="21" name="layer sub 3"/>
          <p:cNvSpPr txBox="1"/>
          <p:nvPr/>
        </p:nvSpPr>
        <p:spPr>
          <a:xfrm>
            <a:off x="9509760" y="2377440"/>
            <a:ext cx="2011680" cy="320040"/>
          </a:xfrm>
          <a:prstGeom prst="rect">
            <a:avLst/>
          </a:prstGeom>
          <a:noFill/>
          <a:ln/>
        </p:spPr>
        <p:txBody>
          <a:bodyPr wrap="square" lIns="0" tIns="0" rIns="0" bIns="0" rtlCol="0" anchor="ctr"/>
          <a:lstStyle/>
          <a:p>
            <a:pPr indent="0" marL="0">
              <a:buNone/>
            </a:pPr>
            <a:r>
              <a:rPr lang="en-US" sz="1400" dirty="0">
                <a:solidFill>
                  <a:schemeClr val="accent5"/>
                </a:solidFill>
              </a:rPr>
              <a:t>Neo4j Desktop 5.x</a:t>
            </a:r>
            <a:endParaRPr lang="en-US" sz="1400" dirty="0"/>
          </a:p>
        </p:txBody>
      </p:sp>
      <p:sp>
        <p:nvSpPr>
          <p:cNvPr id="22" name="layer bullets 3"/>
          <p:cNvSpPr txBox="1"/>
          <p:nvPr/>
        </p:nvSpPr>
        <p:spPr>
          <a:xfrm>
            <a:off x="8503920" y="3108960"/>
            <a:ext cx="2880360" cy="22860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(:Station), (:BusRoute)</a:t>
            </a:r>
            <a:endParaRPr lang="en-US" sz="1500" dirty="0"/>
          </a:p>
          <a:p>
            <a:pPr marL="342900" indent="-342900">
              <a:spcAft>
                <a:spcPts val="1200"/>
              </a:spcAft>
              <a:buSzPct val="100000"/>
              <a:buChar char="•"/>
            </a:pPr>
            <a:r>
              <a:rPr lang="en-US" sz="1500" dirty="0">
                <a:solidFill>
                  <a:schemeClr val="tx1"/>
                </a:solidFill>
              </a:rPr>
              <a:t>[:CONNECTS_TO], [:STOPS_AT]</a:t>
            </a:r>
            <a:endParaRPr lang="en-US" sz="1500" dirty="0"/>
          </a:p>
          <a:p>
            <a:pPr marL="342900" indent="-342900">
              <a:spcAft>
                <a:spcPts val="1200"/>
              </a:spcAft>
              <a:buSzPct val="100000"/>
              <a:buChar char="•"/>
            </a:pPr>
            <a:r>
              <a:rPr lang="en-US" sz="1500" dirty="0">
                <a:solidFill>
                  <a:schemeClr val="tx1"/>
                </a:solidFill>
              </a:rPr>
              <a:t>Ràng buộc duy nhất id, code</a:t>
            </a:r>
            <a:endParaRPr lang="en-US" sz="1500" dirty="0"/>
          </a:p>
        </p:txBody>
      </p:sp>
      <p:sp>
        <p:nvSpPr>
          <p:cNvPr id="23" name="protocol 1"/>
          <p:cNvSpPr txBox="1"/>
          <p:nvPr/>
        </p:nvSpPr>
        <p:spPr>
          <a:xfrm>
            <a:off x="3017520" y="5760720"/>
            <a:ext cx="2011680" cy="320040"/>
          </a:xfrm>
          <a:prstGeom prst="rect">
            <a:avLst/>
          </a:prstGeom>
          <a:noFill/>
          <a:ln/>
        </p:spPr>
        <p:txBody>
          <a:bodyPr wrap="square" lIns="0" tIns="0" rIns="0" bIns="0" rtlCol="0" anchor="ctr"/>
          <a:lstStyle/>
          <a:p>
            <a:pPr algn="ctr" indent="0" marL="0">
              <a:buNone/>
            </a:pPr>
            <a:r>
              <a:rPr lang="en-US" sz="1400" dirty="0">
                <a:solidFill>
                  <a:schemeClr val="accent5"/>
                </a:solidFill>
              </a:rPr>
              <a:t>HTTP · JSON</a:t>
            </a:r>
            <a:endParaRPr lang="en-US" sz="1400" dirty="0"/>
          </a:p>
        </p:txBody>
      </p:sp>
      <p:sp>
        <p:nvSpPr>
          <p:cNvPr id="24" name="protocol 2"/>
          <p:cNvSpPr txBox="1"/>
          <p:nvPr/>
        </p:nvSpPr>
        <p:spPr>
          <a:xfrm>
            <a:off x="6858000" y="5760720"/>
            <a:ext cx="2011680" cy="320040"/>
          </a:xfrm>
          <a:prstGeom prst="rect">
            <a:avLst/>
          </a:prstGeom>
          <a:noFill/>
          <a:ln/>
        </p:spPr>
        <p:txBody>
          <a:bodyPr wrap="square" lIns="0" tIns="0" rIns="0" bIns="0" rtlCol="0" anchor="ctr"/>
          <a:lstStyle/>
          <a:p>
            <a:pPr algn="ctr" indent="0" marL="0">
              <a:buNone/>
            </a:pPr>
            <a:r>
              <a:rPr lang="en-US" sz="1400" dirty="0">
                <a:solidFill>
                  <a:schemeClr val="accent5"/>
                </a:solidFill>
              </a:rPr>
              <a:t>Bolt · Cypher</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Dijkstra trên đồ thị trạng thái (trạm, tuyến)</a:t>
            </a:r>
            <a:endParaRPr lang="en-US" sz="3400" dirty="0"/>
          </a:p>
        </p:txBody>
      </p:sp>
      <p:sp>
        <p:nvSpPr>
          <p:cNvPr id="3" name="rule card 1"/>
          <p:cNvSpPr/>
          <p:nvPr/>
        </p:nvSpPr>
        <p:spPr>
          <a:xfrm>
            <a:off x="548640" y="1554480"/>
            <a:ext cx="5212080" cy="1371600"/>
          </a:xfrm>
          <a:prstGeom prst="roundRect">
            <a:avLst>
              <a:gd name="adj" fmla="val 8000"/>
            </a:avLst>
          </a:prstGeom>
          <a:solidFill>
            <a:schemeClr val="bg2"/>
          </a:solidFill>
          <a:ln w="12700">
            <a:solidFill>
              <a:schemeClr val="bg2"/>
            </a:solidFill>
            <a:prstDash val="solid"/>
          </a:ln>
        </p:spPr>
      </p:sp>
      <p:sp>
        <p:nvSpPr>
          <p:cNvPr id="4" name="rule number circle 1"/>
          <p:cNvSpPr/>
          <p:nvPr/>
        </p:nvSpPr>
        <p:spPr>
          <a:xfrm>
            <a:off x="777240" y="1920240"/>
            <a:ext cx="640080" cy="640080"/>
          </a:xfrm>
          <a:prstGeom prst="ellipse">
            <a:avLst/>
          </a:prstGeom>
          <a:solidFill>
            <a:schemeClr val="accent1"/>
          </a:solidFill>
          <a:ln w="12700">
            <a:solidFill>
              <a:schemeClr val="accent1"/>
            </a:solidFill>
            <a:prstDash val="solid"/>
          </a:ln>
        </p:spPr>
      </p:sp>
      <p:sp>
        <p:nvSpPr>
          <p:cNvPr id="5" name="rule number 1"/>
          <p:cNvSpPr txBox="1"/>
          <p:nvPr/>
        </p:nvSpPr>
        <p:spPr>
          <a:xfrm>
            <a:off x="777240" y="19202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rule head 1"/>
          <p:cNvSpPr txBox="1"/>
          <p:nvPr/>
        </p:nvSpPr>
        <p:spPr>
          <a:xfrm>
            <a:off x="1645920" y="1737360"/>
            <a:ext cx="3931920" cy="365760"/>
          </a:xfrm>
          <a:prstGeom prst="rect">
            <a:avLst/>
          </a:prstGeom>
          <a:noFill/>
          <a:ln/>
        </p:spPr>
        <p:txBody>
          <a:bodyPr wrap="square" lIns="0" tIns="0" rIns="0" bIns="0" rtlCol="0" anchor="t"/>
          <a:lstStyle/>
          <a:p>
            <a:pPr indent="0" marL="0">
              <a:buNone/>
            </a:pPr>
            <a:r>
              <a:rPr lang="en-US" sz="1900" b="1" dirty="0">
                <a:solidFill>
                  <a:schemeClr val="tx1"/>
                </a:solidFill>
              </a:rPr>
              <a:t>Đi tiếp trên cùng tuyến</a:t>
            </a:r>
            <a:endParaRPr lang="en-US" sz="1900" dirty="0"/>
          </a:p>
        </p:txBody>
      </p:sp>
      <p:sp>
        <p:nvSpPr>
          <p:cNvPr id="7" name="rule desc 1"/>
          <p:cNvSpPr txBox="1"/>
          <p:nvPr/>
        </p:nvSpPr>
        <p:spPr>
          <a:xfrm>
            <a:off x="1645920" y="2148840"/>
            <a:ext cx="3931920" cy="685800"/>
          </a:xfrm>
          <a:prstGeom prst="rect">
            <a:avLst/>
          </a:prstGeom>
          <a:noFill/>
          <a:ln/>
        </p:spPr>
        <p:txBody>
          <a:bodyPr wrap="square" lIns="0" tIns="0" rIns="0" bIns="0" rtlCol="0" anchor="t"/>
          <a:lstStyle/>
          <a:p>
            <a:pPr indent="0" marL="0">
              <a:buNone/>
            </a:pPr>
            <a:r>
              <a:rPr lang="en-US" sz="1500" dirty="0">
                <a:solidFill>
                  <a:schemeClr val="accent5"/>
                </a:solidFill>
              </a:rPr>
              <a:t>Cộng thời gian và quãng đường của cạnh CONNECTS_TO.</a:t>
            </a:r>
            <a:endParaRPr lang="en-US" sz="1500" dirty="0"/>
          </a:p>
        </p:txBody>
      </p:sp>
      <p:sp>
        <p:nvSpPr>
          <p:cNvPr id="8" name="rule card 2"/>
          <p:cNvSpPr/>
          <p:nvPr/>
        </p:nvSpPr>
        <p:spPr>
          <a:xfrm>
            <a:off x="548640" y="3108960"/>
            <a:ext cx="5212080" cy="1371600"/>
          </a:xfrm>
          <a:prstGeom prst="roundRect">
            <a:avLst>
              <a:gd name="adj" fmla="val 8000"/>
            </a:avLst>
          </a:prstGeom>
          <a:solidFill>
            <a:schemeClr val="bg2"/>
          </a:solidFill>
          <a:ln w="12700">
            <a:solidFill>
              <a:schemeClr val="bg2"/>
            </a:solidFill>
            <a:prstDash val="solid"/>
          </a:ln>
        </p:spPr>
      </p:sp>
      <p:sp>
        <p:nvSpPr>
          <p:cNvPr id="9" name="rule number circle 2"/>
          <p:cNvSpPr/>
          <p:nvPr/>
        </p:nvSpPr>
        <p:spPr>
          <a:xfrm>
            <a:off x="777240" y="3474720"/>
            <a:ext cx="640080" cy="640080"/>
          </a:xfrm>
          <a:prstGeom prst="ellipse">
            <a:avLst/>
          </a:prstGeom>
          <a:solidFill>
            <a:schemeClr val="accent2"/>
          </a:solidFill>
          <a:ln w="12700">
            <a:solidFill>
              <a:schemeClr val="accent2"/>
            </a:solidFill>
            <a:prstDash val="solid"/>
          </a:ln>
        </p:spPr>
      </p:sp>
      <p:sp>
        <p:nvSpPr>
          <p:cNvPr id="10" name="rule number 2"/>
          <p:cNvSpPr txBox="1"/>
          <p:nvPr/>
        </p:nvSpPr>
        <p:spPr>
          <a:xfrm>
            <a:off x="777240" y="347472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rPr>
              <a:t>2</a:t>
            </a:r>
            <a:endParaRPr lang="en-US" sz="2200" dirty="0"/>
          </a:p>
        </p:txBody>
      </p:sp>
      <p:sp>
        <p:nvSpPr>
          <p:cNvPr id="11" name="rule head 2"/>
          <p:cNvSpPr txBox="1"/>
          <p:nvPr/>
        </p:nvSpPr>
        <p:spPr>
          <a:xfrm>
            <a:off x="1645920" y="3291840"/>
            <a:ext cx="3931920" cy="365760"/>
          </a:xfrm>
          <a:prstGeom prst="rect">
            <a:avLst/>
          </a:prstGeom>
          <a:noFill/>
          <a:ln/>
        </p:spPr>
        <p:txBody>
          <a:bodyPr wrap="square" lIns="0" tIns="0" rIns="0" bIns="0" rtlCol="0" anchor="t"/>
          <a:lstStyle/>
          <a:p>
            <a:pPr indent="0" marL="0">
              <a:buNone/>
            </a:pPr>
            <a:r>
              <a:rPr lang="en-US" sz="1900" b="1" dirty="0">
                <a:solidFill>
                  <a:schemeClr val="tx1"/>
                </a:solidFill>
              </a:rPr>
              <a:t>Đổi tuyến tại một trạm</a:t>
            </a:r>
            <a:endParaRPr lang="en-US" sz="1900" dirty="0"/>
          </a:p>
        </p:txBody>
      </p:sp>
      <p:sp>
        <p:nvSpPr>
          <p:cNvPr id="12" name="rule desc 2"/>
          <p:cNvSpPr txBox="1"/>
          <p:nvPr/>
        </p:nvSpPr>
        <p:spPr>
          <a:xfrm>
            <a:off x="1645920" y="3703320"/>
            <a:ext cx="3931920" cy="685800"/>
          </a:xfrm>
          <a:prstGeom prst="rect">
            <a:avLst/>
          </a:prstGeom>
          <a:noFill/>
          <a:ln/>
        </p:spPr>
        <p:txBody>
          <a:bodyPr wrap="square" lIns="0" tIns="0" rIns="0" bIns="0" rtlCol="0" anchor="t"/>
          <a:lstStyle/>
          <a:p>
            <a:pPr indent="0" marL="0">
              <a:buNone/>
            </a:pPr>
            <a:r>
              <a:rPr lang="en-US" sz="1500" dirty="0">
                <a:solidFill>
                  <a:schemeClr val="accent5"/>
                </a:solidFill>
              </a:rPr>
              <a:t>Cộng chờ = giãn cách của tuyến mới / 2; số lần chuyển tăng 1.</a:t>
            </a:r>
            <a:endParaRPr lang="en-US" sz="1500" dirty="0"/>
          </a:p>
        </p:txBody>
      </p:sp>
      <p:sp>
        <p:nvSpPr>
          <p:cNvPr id="13" name="rule card 3"/>
          <p:cNvSpPr/>
          <p:nvPr/>
        </p:nvSpPr>
        <p:spPr>
          <a:xfrm>
            <a:off x="548640" y="4663440"/>
            <a:ext cx="5212080" cy="1371600"/>
          </a:xfrm>
          <a:prstGeom prst="roundRect">
            <a:avLst>
              <a:gd name="adj" fmla="val 8000"/>
            </a:avLst>
          </a:prstGeom>
          <a:solidFill>
            <a:schemeClr val="bg2"/>
          </a:solidFill>
          <a:ln w="12700">
            <a:solidFill>
              <a:schemeClr val="bg2"/>
            </a:solidFill>
            <a:prstDash val="solid"/>
          </a:ln>
        </p:spPr>
      </p:sp>
      <p:sp>
        <p:nvSpPr>
          <p:cNvPr id="14" name="rule number circle 3"/>
          <p:cNvSpPr/>
          <p:nvPr/>
        </p:nvSpPr>
        <p:spPr>
          <a:xfrm>
            <a:off x="777240" y="5029200"/>
            <a:ext cx="640080" cy="640080"/>
          </a:xfrm>
          <a:prstGeom prst="ellipse">
            <a:avLst/>
          </a:prstGeom>
          <a:solidFill>
            <a:schemeClr val="accent4"/>
          </a:solidFill>
          <a:ln w="12700">
            <a:solidFill>
              <a:schemeClr val="accent4"/>
            </a:solidFill>
            <a:prstDash val="solid"/>
          </a:ln>
        </p:spPr>
      </p:sp>
      <p:sp>
        <p:nvSpPr>
          <p:cNvPr id="15" name="rule number 3"/>
          <p:cNvSpPr txBox="1"/>
          <p:nvPr/>
        </p:nvSpPr>
        <p:spPr>
          <a:xfrm>
            <a:off x="777240" y="50292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rule head 3"/>
          <p:cNvSpPr txBox="1"/>
          <p:nvPr/>
        </p:nvSpPr>
        <p:spPr>
          <a:xfrm>
            <a:off x="1645920" y="4846320"/>
            <a:ext cx="3931920" cy="365760"/>
          </a:xfrm>
          <a:prstGeom prst="rect">
            <a:avLst/>
          </a:prstGeom>
          <a:noFill/>
          <a:ln/>
        </p:spPr>
        <p:txBody>
          <a:bodyPr wrap="square" lIns="0" tIns="0" rIns="0" bIns="0" rtlCol="0" anchor="t"/>
          <a:lstStyle/>
          <a:p>
            <a:pPr indent="0" marL="0">
              <a:buNone/>
            </a:pPr>
            <a:r>
              <a:rPr lang="en-US" sz="1900" b="1" dirty="0">
                <a:solidFill>
                  <a:schemeClr val="tx1"/>
                </a:solidFill>
              </a:rPr>
              <a:t>Lên xe lần đầu</a:t>
            </a:r>
            <a:endParaRPr lang="en-US" sz="1900" dirty="0"/>
          </a:p>
        </p:txBody>
      </p:sp>
      <p:sp>
        <p:nvSpPr>
          <p:cNvPr id="17" name="rule desc 3"/>
          <p:cNvSpPr txBox="1"/>
          <p:nvPr/>
        </p:nvSpPr>
        <p:spPr>
          <a:xfrm>
            <a:off x="1645920" y="5257800"/>
            <a:ext cx="3931920" cy="685800"/>
          </a:xfrm>
          <a:prstGeom prst="rect">
            <a:avLst/>
          </a:prstGeom>
          <a:noFill/>
          <a:ln/>
        </p:spPr>
        <p:txBody>
          <a:bodyPr wrap="square" lIns="0" tIns="0" rIns="0" bIns="0" rtlCol="0" anchor="t"/>
          <a:lstStyle/>
          <a:p>
            <a:pPr indent="0" marL="0">
              <a:buNone/>
            </a:pPr>
            <a:r>
              <a:rPr lang="en-US" sz="1500" dirty="0">
                <a:solidFill>
                  <a:schemeClr val="accent5"/>
                </a:solidFill>
              </a:rPr>
              <a:t>Cộng chờ = giãn cách của tuyến đầu / 2 (có thể tắt).</a:t>
            </a:r>
            <a:endParaRPr lang="en-US" sz="1500" dirty="0"/>
          </a:p>
        </p:txBody>
      </p:sp>
      <p:sp>
        <p:nvSpPr>
          <p:cNvPr id="18" name="state graph card"/>
          <p:cNvSpPr/>
          <p:nvPr/>
        </p:nvSpPr>
        <p:spPr>
          <a:xfrm>
            <a:off x="6035040" y="1554480"/>
            <a:ext cx="5605272" cy="4480560"/>
          </a:xfrm>
          <a:prstGeom prst="roundRect">
            <a:avLst>
              <a:gd name="adj" fmla="val 2449"/>
            </a:avLst>
          </a:prstGeom>
          <a:solidFill>
            <a:schemeClr val="bg2"/>
          </a:solidFill>
          <a:ln w="12700">
            <a:solidFill>
              <a:schemeClr val="bg2"/>
            </a:solidFill>
            <a:prstDash val="solid"/>
          </a:ln>
        </p:spPr>
      </p:sp>
      <p:sp>
        <p:nvSpPr>
          <p:cNvPr id="19" name="state graph title"/>
          <p:cNvSpPr txBox="1"/>
          <p:nvPr/>
        </p:nvSpPr>
        <p:spPr>
          <a:xfrm>
            <a:off x="6309360" y="1737360"/>
            <a:ext cx="5029200" cy="365760"/>
          </a:xfrm>
          <a:prstGeom prst="rect">
            <a:avLst/>
          </a:prstGeom>
          <a:noFill/>
          <a:ln/>
        </p:spPr>
        <p:txBody>
          <a:bodyPr wrap="square" lIns="0" tIns="0" rIns="0" bIns="0" rtlCol="0" anchor="ctr"/>
          <a:lstStyle/>
          <a:p>
            <a:pPr indent="0" marL="0">
              <a:buNone/>
            </a:pPr>
            <a:r>
              <a:rPr lang="en-US" sz="1800" b="1" dirty="0">
                <a:solidFill>
                  <a:schemeClr val="tx1"/>
                </a:solidFill>
              </a:rPr>
              <a:t>Mỗi nút là một cặp (trạm, tuyến)</a:t>
            </a:r>
            <a:endParaRPr lang="en-US" sz="1800" dirty="0"/>
          </a:p>
        </p:txBody>
      </p:sp>
      <p:sp>
        <p:nvSpPr>
          <p:cNvPr id="20" name="row label 08"/>
          <p:cNvSpPr txBox="1"/>
          <p:nvPr/>
        </p:nvSpPr>
        <p:spPr>
          <a:xfrm>
            <a:off x="6309360" y="2286000"/>
            <a:ext cx="1828800" cy="274320"/>
          </a:xfrm>
          <a:prstGeom prst="rect">
            <a:avLst/>
          </a:prstGeom>
          <a:noFill/>
          <a:ln/>
        </p:spPr>
        <p:txBody>
          <a:bodyPr wrap="square" lIns="0" tIns="0" rIns="0" bIns="0" rtlCol="0" anchor="ctr"/>
          <a:lstStyle/>
          <a:p>
            <a:pPr indent="0" marL="0">
              <a:buNone/>
            </a:pPr>
            <a:r>
              <a:rPr lang="en-US" sz="1400" b="1" dirty="0">
                <a:solidFill>
                  <a:schemeClr val="accent1"/>
                </a:solidFill>
              </a:rPr>
              <a:t>Tuyến 08</a:t>
            </a:r>
            <a:endParaRPr lang="en-US" sz="1400" dirty="0"/>
          </a:p>
        </p:txBody>
      </p:sp>
      <p:sp>
        <p:nvSpPr>
          <p:cNvPr id="21" name="row label 04"/>
          <p:cNvSpPr txBox="1"/>
          <p:nvPr/>
        </p:nvSpPr>
        <p:spPr>
          <a:xfrm>
            <a:off x="6309360" y="3931920"/>
            <a:ext cx="1828800" cy="274320"/>
          </a:xfrm>
          <a:prstGeom prst="rect">
            <a:avLst/>
          </a:prstGeom>
          <a:noFill/>
          <a:ln/>
        </p:spPr>
        <p:txBody>
          <a:bodyPr wrap="square" lIns="0" tIns="0" rIns="0" bIns="0" rtlCol="0" anchor="ctr"/>
          <a:lstStyle/>
          <a:p>
            <a:pPr indent="0" marL="0">
              <a:buNone/>
            </a:pPr>
            <a:r>
              <a:rPr lang="en-US" sz="1400" b="1" dirty="0">
                <a:solidFill>
                  <a:schemeClr val="tx1"/>
                </a:solidFill>
              </a:rPr>
              <a:t>Tuyến 04</a:t>
            </a:r>
            <a:endParaRPr lang="en-US" sz="1400" dirty="0"/>
          </a:p>
        </p:txBody>
      </p:sp>
      <p:sp>
        <p:nvSpPr>
          <p:cNvPr id="22" name="row1 edge1"/>
          <p:cNvSpPr/>
          <p:nvPr/>
        </p:nvSpPr>
        <p:spPr>
          <a:xfrm>
            <a:off x="7040880" y="3063240"/>
            <a:ext cx="1737360" cy="0"/>
          </a:xfrm>
          <a:prstGeom prst="line">
            <a:avLst/>
          </a:prstGeom>
          <a:noFill/>
          <a:ln w="63500">
            <a:solidFill>
              <a:schemeClr val="accent1"/>
            </a:solidFill>
            <a:prstDash val="solid"/>
            <a:tailEnd type="triangle"/>
          </a:ln>
        </p:spPr>
      </p:sp>
      <p:sp>
        <p:nvSpPr>
          <p:cNvPr id="23" name="row1 edge2"/>
          <p:cNvSpPr/>
          <p:nvPr/>
        </p:nvSpPr>
        <p:spPr>
          <a:xfrm>
            <a:off x="8778240" y="3063240"/>
            <a:ext cx="1737360" cy="0"/>
          </a:xfrm>
          <a:prstGeom prst="line">
            <a:avLst/>
          </a:prstGeom>
          <a:noFill/>
          <a:ln w="63500">
            <a:solidFill>
              <a:schemeClr val="accent1"/>
            </a:solidFill>
            <a:prstDash val="solid"/>
            <a:tailEnd type="triangle"/>
          </a:ln>
        </p:spPr>
      </p:sp>
      <p:sp>
        <p:nvSpPr>
          <p:cNvPr id="24" name="row2 edge1"/>
          <p:cNvSpPr/>
          <p:nvPr/>
        </p:nvSpPr>
        <p:spPr>
          <a:xfrm>
            <a:off x="7040880" y="4709160"/>
            <a:ext cx="1737360" cy="0"/>
          </a:xfrm>
          <a:prstGeom prst="line">
            <a:avLst/>
          </a:prstGeom>
          <a:noFill/>
          <a:ln w="63500">
            <a:solidFill>
              <a:schemeClr val="accent2"/>
            </a:solidFill>
            <a:prstDash val="solid"/>
            <a:tailEnd type="triangle"/>
          </a:ln>
        </p:spPr>
      </p:sp>
      <p:sp>
        <p:nvSpPr>
          <p:cNvPr id="25" name="row2 edge2"/>
          <p:cNvSpPr/>
          <p:nvPr/>
        </p:nvSpPr>
        <p:spPr>
          <a:xfrm>
            <a:off x="8778240" y="4709160"/>
            <a:ext cx="1737360" cy="0"/>
          </a:xfrm>
          <a:prstGeom prst="line">
            <a:avLst/>
          </a:prstGeom>
          <a:noFill/>
          <a:ln w="63500">
            <a:solidFill>
              <a:schemeClr val="accent2"/>
            </a:solidFill>
            <a:prstDash val="solid"/>
            <a:tailEnd type="triangle"/>
          </a:ln>
        </p:spPr>
      </p:sp>
      <p:sp>
        <p:nvSpPr>
          <p:cNvPr id="26" name="transfer edge"/>
          <p:cNvSpPr/>
          <p:nvPr/>
        </p:nvSpPr>
        <p:spPr>
          <a:xfrm>
            <a:off x="8778240" y="3337560"/>
            <a:ext cx="0" cy="1097280"/>
          </a:xfrm>
          <a:prstGeom prst="line">
            <a:avLst/>
          </a:prstGeom>
          <a:noFill/>
          <a:ln w="38100">
            <a:solidFill>
              <a:schemeClr val="accent3"/>
            </a:solidFill>
            <a:prstDash val="dash"/>
            <a:tailEnd type="triangle"/>
          </a:ln>
        </p:spPr>
      </p:sp>
      <p:sp>
        <p:nvSpPr>
          <p:cNvPr id="27" name="transfer label"/>
          <p:cNvSpPr txBox="1"/>
          <p:nvPr/>
        </p:nvSpPr>
        <p:spPr>
          <a:xfrm>
            <a:off x="8961120" y="3703320"/>
            <a:ext cx="2377440" cy="274320"/>
          </a:xfrm>
          <a:prstGeom prst="rect">
            <a:avLst/>
          </a:prstGeom>
          <a:noFill/>
          <a:ln/>
        </p:spPr>
        <p:txBody>
          <a:bodyPr wrap="square" lIns="0" tIns="0" rIns="0" bIns="0" rtlCol="0" anchor="ctr"/>
          <a:lstStyle/>
          <a:p>
            <a:pPr indent="0" marL="0">
              <a:buNone/>
            </a:pPr>
            <a:r>
              <a:rPr lang="en-US" sz="1400" b="1" dirty="0">
                <a:solidFill>
                  <a:schemeClr val="accent3"/>
                </a:solidFill>
              </a:rPr>
              <a:t>đổi tuyến: + chờ</a:t>
            </a:r>
            <a:endParaRPr lang="en-US" sz="1400" dirty="0"/>
          </a:p>
        </p:txBody>
      </p:sp>
      <p:sp>
        <p:nvSpPr>
          <p:cNvPr id="28" name="state 08 1"/>
          <p:cNvSpPr txBox="1"/>
          <p:nvPr/>
        </p:nvSpPr>
        <p:spPr>
          <a:xfrm>
            <a:off x="6766560" y="2788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A</a:t>
            </a:r>
            <a:endParaRPr lang="en-US" sz="1500" dirty="0"/>
          </a:p>
        </p:txBody>
      </p:sp>
      <p:sp>
        <p:nvSpPr>
          <p:cNvPr id="29" name="state 08 2"/>
          <p:cNvSpPr txBox="1"/>
          <p:nvPr/>
        </p:nvSpPr>
        <p:spPr>
          <a:xfrm>
            <a:off x="8503920" y="2788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30" name="state 08 3"/>
          <p:cNvSpPr txBox="1"/>
          <p:nvPr/>
        </p:nvSpPr>
        <p:spPr>
          <a:xfrm>
            <a:off x="10241280" y="278892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31" name="state 04 1"/>
          <p:cNvSpPr txBox="1"/>
          <p:nvPr/>
        </p:nvSpPr>
        <p:spPr>
          <a:xfrm>
            <a:off x="6766560" y="443484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bg1"/>
                </a:solidFill>
              </a:rPr>
              <a:t>X</a:t>
            </a:r>
            <a:endParaRPr lang="en-US" sz="1500" dirty="0"/>
          </a:p>
        </p:txBody>
      </p:sp>
      <p:sp>
        <p:nvSpPr>
          <p:cNvPr id="32" name="state 04 2"/>
          <p:cNvSpPr txBox="1"/>
          <p:nvPr/>
        </p:nvSpPr>
        <p:spPr>
          <a:xfrm>
            <a:off x="8503920" y="443484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33" name="state 04 3"/>
          <p:cNvSpPr txBox="1"/>
          <p:nvPr/>
        </p:nvSpPr>
        <p:spPr>
          <a:xfrm>
            <a:off x="10241280" y="443484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bg1"/>
                </a:solidFill>
              </a:rPr>
              <a:t>D</a:t>
            </a:r>
            <a:endParaRPr lang="en-US" sz="1500" dirty="0"/>
          </a:p>
        </p:txBody>
      </p:sp>
      <p:sp>
        <p:nvSpPr>
          <p:cNvPr id="34" name="graph caption"/>
          <p:cNvSpPr txBox="1"/>
          <p:nvPr/>
        </p:nvSpPr>
        <p:spPr>
          <a:xfrm>
            <a:off x="6309360" y="5394960"/>
            <a:ext cx="5074920" cy="502920"/>
          </a:xfrm>
          <a:prstGeom prst="rect">
            <a:avLst/>
          </a:prstGeom>
          <a:noFill/>
          <a:ln/>
        </p:spPr>
        <p:txBody>
          <a:bodyPr wrap="square" lIns="0" tIns="0" rIns="0" bIns="0" rtlCol="0" anchor="t"/>
          <a:lstStyle/>
          <a:p>
            <a:pPr indent="0" marL="0">
              <a:buNone/>
            </a:pPr>
            <a:r>
              <a:rPr lang="en-US" sz="1400" dirty="0">
                <a:solidFill>
                  <a:schemeClr val="accent5"/>
                </a:solidFill>
              </a:rPr>
              <a:t>Đổi tuyến là một cạnh có chi phí, nên Dijkstra xử lý như mọi cạnh khác</a:t>
            </a:r>
            <a:endParaRPr lang="en-US" sz="14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Hai chế độ tối ưu cho cùng một cặp trạm</a:t>
            </a:r>
            <a:endParaRPr lang="en-US" sz="3400" dirty="0"/>
          </a:p>
        </p:txBody>
      </p:sp>
      <p:graphicFrame>
        <p:nvGraphicFramePr>
          <p:cNvPr id="9" name="mode table"/>
          <p:cNvGraphicFramePr>
            <a:graphicFrameLocks noGrp="1"/>
          </p:cNvGraphicFramePr>
          <p:nvPr>
            <p:extLst>
              <p:ext uri="{D42A27DB-BD31-4B8C-83A1-F6EECF244321}">
                <p14:modId xmlns:p14="http://schemas.microsoft.com/office/powerpoint/2010/main" val="1579011935"/>
              </p:ext>
            </p:extLst>
          </p:nvPr>
        </p:nvGraphicFramePr>
        <p:xfrm>
          <a:off x="548640" y="1600200"/>
          <a:ext cx="5486400" cy="914400"/>
        </p:xfrm>
        <a:graphic>
          <a:graphicData uri="http://schemas.openxmlformats.org/drawingml/2006/table">
            <a:tbl>
              <a:tblPr/>
              <a:tblGrid>
                <a:gridCol w="1828800"/>
                <a:gridCol w="3657600"/>
              </a:tblGrid>
              <a:tr h="566928">
                <a:tc>
                  <a:txBody>
                    <a:bodyPr/>
                    <a:lstStyle/>
                    <a:p>
                      <a:pPr indent="0" marL="0">
                        <a:buNone/>
                      </a:pPr>
                      <a:r>
                        <a:rPr lang="en-US" sz="1500" b="1" dirty="0">
                          <a:solidFill>
                            <a:srgbClr val="FFFFFF"/>
                          </a:solidFill>
                        </a:rPr>
                        <a:t>Chế độ</a:t>
                      </a:r>
                      <a:endParaRPr lang="en-US" sz="15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A"/>
                    </a:solidFill>
                  </a:tcPr>
                </a:tc>
                <a:tc>
                  <a:txBody>
                    <a:bodyPr/>
                    <a:lstStyle/>
                    <a:p>
                      <a:pPr indent="0" marL="0">
                        <a:buNone/>
                      </a:pPr>
                      <a:r>
                        <a:rPr lang="en-US" sz="1500" b="1" dirty="0">
                          <a:solidFill>
                            <a:srgbClr val="FFFFFF"/>
                          </a:solidFill>
                        </a:rPr>
                        <a:t>Thứ tự ưu tiên</a:t>
                      </a:r>
                      <a:endParaRPr lang="en-US" sz="15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1F3A"/>
                    </a:solidFill>
                  </a:tcPr>
                </a:tc>
              </a:tr>
              <a:tr h="566928">
                <a:tc>
                  <a:txBody>
                    <a:bodyPr/>
                    <a:lstStyle/>
                    <a:p>
                      <a:pPr indent="0" marL="0">
                        <a:buNone/>
                      </a:pPr>
                      <a:r>
                        <a:rPr lang="en-US" sz="1500" b="1" dirty="0">
                          <a:solidFill>
                            <a:srgbClr val="0B1F3A"/>
                          </a:solidFill>
                        </a:rPr>
                        <a:t>Nhanh nhất</a:t>
                      </a:r>
                      <a:endParaRPr lang="en-US" sz="15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c>
                  <a:txBody>
                    <a:bodyPr/>
                    <a:lstStyle/>
                    <a:p>
                      <a:pPr indent="0" marL="0">
                        <a:buNone/>
                      </a:pPr>
                      <a:r>
                        <a:rPr lang="en-US" sz="1500" dirty="0">
                          <a:solidFill>
                            <a:srgbClr val="0B1F3A"/>
                          </a:solidFill>
                        </a:rPr>
                        <a:t>thời gian → số lần chuyển → quãng đường</a:t>
                      </a:r>
                      <a:endParaRPr lang="en-US" sz="15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r>
              <a:tr h="566928">
                <a:tc>
                  <a:txBody>
                    <a:bodyPr/>
                    <a:lstStyle/>
                    <a:p>
                      <a:pPr indent="0" marL="0">
                        <a:buNone/>
                      </a:pPr>
                      <a:r>
                        <a:rPr lang="en-US" sz="1500" b="1" dirty="0">
                          <a:solidFill>
                            <a:srgbClr val="0B1F3A"/>
                          </a:solidFill>
                        </a:rPr>
                        <a:t>Ngắn nhất (km)</a:t>
                      </a:r>
                      <a:endParaRPr lang="en-US" sz="15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c>
                  <a:txBody>
                    <a:bodyPr/>
                    <a:lstStyle/>
                    <a:p>
                      <a:pPr indent="0" marL="0">
                        <a:buNone/>
                      </a:pPr>
                      <a:r>
                        <a:rPr lang="en-US" sz="1500" dirty="0">
                          <a:solidFill>
                            <a:srgbClr val="0B1F3A"/>
                          </a:solidFill>
                        </a:rPr>
                        <a:t>quãng đường → thời gian → số lần chuyển</a:t>
                      </a:r>
                      <a:endParaRPr lang="en-US" sz="15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r>
              <a:tr h="566928">
                <a:tc>
                  <a:txBody>
                    <a:bodyPr/>
                    <a:lstStyle/>
                    <a:p>
                      <a:pPr indent="0" marL="0">
                        <a:buNone/>
                      </a:pPr>
                      <a:r>
                        <a:rPr lang="en-US" sz="1500" b="1" dirty="0">
                          <a:solidFill>
                            <a:srgbClr val="0B1F3A"/>
                          </a:solidFill>
                        </a:rPr>
                        <a:t>Ít chuyển tuyến</a:t>
                      </a:r>
                      <a:endParaRPr lang="en-US" sz="15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c>
                  <a:txBody>
                    <a:bodyPr/>
                    <a:lstStyle/>
                    <a:p>
                      <a:pPr indent="0" marL="0">
                        <a:buNone/>
                      </a:pPr>
                      <a:r>
                        <a:rPr lang="en-US" sz="1500" dirty="0">
                          <a:solidFill>
                            <a:srgbClr val="0B1F3A"/>
                          </a:solidFill>
                        </a:rPr>
                        <a:t>số lần chuyển → thời gian → quãng đường</a:t>
                      </a:r>
                      <a:endParaRPr lang="en-US" sz="15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r>
            </a:tbl>
          </a:graphicData>
        </a:graphic>
      </p:graphicFrame>
      <p:sp>
        <p:nvSpPr>
          <p:cNvPr id="4" name="why correct card"/>
          <p:cNvSpPr/>
          <p:nvPr/>
        </p:nvSpPr>
        <p:spPr>
          <a:xfrm>
            <a:off x="548640" y="4160520"/>
            <a:ext cx="5486400" cy="1920240"/>
          </a:xfrm>
          <a:prstGeom prst="roundRect">
            <a:avLst>
              <a:gd name="adj" fmla="val 5714"/>
            </a:avLst>
          </a:prstGeom>
          <a:solidFill>
            <a:schemeClr val="bg2"/>
          </a:solidFill>
          <a:ln w="12700">
            <a:solidFill>
              <a:schemeClr val="bg2"/>
            </a:solidFill>
            <a:prstDash val="solid"/>
          </a:ln>
        </p:spPr>
      </p:sp>
      <p:sp>
        <p:nvSpPr>
          <p:cNvPr id="5" name="check circle"/>
          <p:cNvSpPr/>
          <p:nvPr/>
        </p:nvSpPr>
        <p:spPr>
          <a:xfrm>
            <a:off x="822960" y="4434840"/>
            <a:ext cx="640080" cy="640080"/>
          </a:xfrm>
          <a:prstGeom prst="ellipse">
            <a:avLst/>
          </a:prstGeom>
          <a:solidFill>
            <a:schemeClr val="accent6"/>
          </a:solidFill>
          <a:ln w="12700">
            <a:solidFill>
              <a:schemeClr val="accent6"/>
            </a:solidFill>
            <a:prstDash val="solid"/>
          </a:ln>
        </p:spPr>
      </p:sp>
      <p:pic>
        <p:nvPicPr>
          <p:cNvPr id="6" name="check" descr="check">    </p:cNvPr>
          <p:cNvPicPr>
            <a:picLocks noChangeAspect="1"/>
          </p:cNvPicPr>
          <p:nvPr/>
        </p:nvPicPr>
        <p:blipFill>
          <a:blip r:embed="rId1"/>
          <a:stretch>
            <a:fillRect/>
          </a:stretch>
        </p:blipFill>
        <p:spPr>
          <a:xfrm>
            <a:off x="982980" y="4594860"/>
            <a:ext cx="320040" cy="320040"/>
          </a:xfrm>
          <a:prstGeom prst="rect">
            <a:avLst/>
          </a:prstGeom>
        </p:spPr>
      </p:pic>
      <p:sp>
        <p:nvSpPr>
          <p:cNvPr id="7" name="why correct text"/>
          <p:cNvSpPr txBox="1"/>
          <p:nvPr/>
        </p:nvSpPr>
        <p:spPr>
          <a:xfrm>
            <a:off x="1691640" y="4343400"/>
            <a:ext cx="4114800" cy="1554480"/>
          </a:xfrm>
          <a:prstGeom prst="rect">
            <a:avLst/>
          </a:prstGeom>
          <a:noFill/>
          <a:ln/>
        </p:spPr>
        <p:txBody>
          <a:bodyPr wrap="square" lIns="0" tIns="0" rIns="0" bIns="0" rtlCol="0" anchor="t"/>
          <a:lstStyle/>
          <a:p>
            <a:pPr indent="0" marL="0">
              <a:buNone/>
            </a:pPr>
            <a:r>
              <a:rPr lang="en-US" sz="1600" dirty="0">
                <a:solidFill>
                  <a:schemeClr val="tx1"/>
                </a:solidFill>
              </a:rPr>
              <a:t>Cả ba thành phần đều không âm và cộng dồn theo từng cạnh, nên so sánh theo thứ tự từ điển vẫn giữ nguyên tính đúng của Dijkstra.</a:t>
            </a:r>
            <a:endParaRPr lang="en-US" sz="1600" dirty="0"/>
          </a:p>
        </p:txBody>
      </p:sp>
      <p:sp>
        <p:nvSpPr>
          <p:cNvPr id="8" name="example head"/>
          <p:cNvSpPr txBox="1"/>
          <p:nvPr/>
        </p:nvSpPr>
        <p:spPr>
          <a:xfrm>
            <a:off x="6492240" y="1600200"/>
            <a:ext cx="5120640" cy="365760"/>
          </a:xfrm>
          <a:prstGeom prst="rect">
            <a:avLst/>
          </a:prstGeom>
          <a:noFill/>
          <a:ln/>
        </p:spPr>
        <p:txBody>
          <a:bodyPr wrap="square" lIns="0" tIns="0" rIns="0" bIns="0" rtlCol="0" anchor="ctr"/>
          <a:lstStyle/>
          <a:p>
            <a:pPr indent="0" marL="0">
              <a:buNone/>
            </a:pPr>
            <a:r>
              <a:rPr lang="en-US" sz="1800" b="1" dirty="0">
                <a:solidFill>
                  <a:schemeClr val="tx1"/>
                </a:solidFill>
              </a:rPr>
              <a:t>Ví dụ: Chợ Kim Biên → ĐH Nông Lâm</a:t>
            </a:r>
            <a:endParaRPr lang="en-US" sz="1800" dirty="0"/>
          </a:p>
        </p:txBody>
      </p:sp>
      <p:sp>
        <p:nvSpPr>
          <p:cNvPr id="9" name="result time card"/>
          <p:cNvSpPr/>
          <p:nvPr/>
        </p:nvSpPr>
        <p:spPr>
          <a:xfrm>
            <a:off x="6492240" y="2148840"/>
            <a:ext cx="5148072" cy="1783080"/>
          </a:xfrm>
          <a:prstGeom prst="roundRect">
            <a:avLst>
              <a:gd name="adj" fmla="val 6154"/>
            </a:avLst>
          </a:prstGeom>
          <a:solidFill>
            <a:schemeClr val="accent1"/>
          </a:solidFill>
          <a:ln w="12700">
            <a:solidFill>
              <a:schemeClr val="accent1"/>
            </a:solidFill>
            <a:prstDash val="solid"/>
          </a:ln>
          <a:effectLst>
            <a:outerShdw sx="100000" sy="100000" kx="0" ky="0" algn="bl" rotWithShape="0" blurRad="101600" dist="25400" dir="5400000">
              <a:srgbClr val="000000">
                <a:alpha val="14000"/>
              </a:srgbClr>
            </a:outerShdw>
          </a:effectLst>
        </p:spPr>
      </p:sp>
      <p:sp>
        <p:nvSpPr>
          <p:cNvPr id="10" name="result time label"/>
          <p:cNvSpPr txBox="1"/>
          <p:nvPr/>
        </p:nvSpPr>
        <p:spPr>
          <a:xfrm>
            <a:off x="6766560" y="2286000"/>
            <a:ext cx="4572000" cy="320040"/>
          </a:xfrm>
          <a:prstGeom prst="rect">
            <a:avLst/>
          </a:prstGeom>
          <a:noFill/>
          <a:ln/>
        </p:spPr>
        <p:txBody>
          <a:bodyPr wrap="square" lIns="0" tIns="0" rIns="0" bIns="0" rtlCol="0" anchor="ctr"/>
          <a:lstStyle/>
          <a:p>
            <a:pPr indent="0" marL="0">
              <a:buNone/>
            </a:pPr>
            <a:r>
              <a:rPr lang="en-US" sz="1600" dirty="0">
                <a:solidFill>
                  <a:schemeClr val="bg1"/>
                </a:solidFill>
              </a:rPr>
              <a:t>Thời gian ngắn nhất</a:t>
            </a:r>
            <a:endParaRPr lang="en-US" sz="1600" dirty="0"/>
          </a:p>
        </p:txBody>
      </p:sp>
      <p:sp>
        <p:nvSpPr>
          <p:cNvPr id="11" name="result time value"/>
          <p:cNvSpPr txBox="1"/>
          <p:nvPr/>
        </p:nvSpPr>
        <p:spPr>
          <a:xfrm>
            <a:off x="6766560" y="2651760"/>
            <a:ext cx="4572000" cy="685800"/>
          </a:xfrm>
          <a:prstGeom prst="rect">
            <a:avLst/>
          </a:prstGeom>
          <a:noFill/>
          <a:ln/>
        </p:spPr>
        <p:txBody>
          <a:bodyPr wrap="square" lIns="0" tIns="0" rIns="0" bIns="0" rtlCol="0" anchor="ctr"/>
          <a:lstStyle/>
          <a:p>
            <a:pPr indent="0" marL="0">
              <a:buNone/>
            </a:pPr>
            <a:r>
              <a:rPr lang="en-US" sz="4000" b="1" dirty="0">
                <a:solidFill>
                  <a:schemeClr val="bg1"/>
                </a:solidFill>
              </a:rPr>
              <a:t>2 giờ 3 phút</a:t>
            </a:r>
            <a:endParaRPr lang="en-US" sz="4000" dirty="0"/>
          </a:p>
        </p:txBody>
      </p:sp>
      <p:sp>
        <p:nvSpPr>
          <p:cNvPr id="12" name="result time sub"/>
          <p:cNvSpPr txBox="1"/>
          <p:nvPr/>
        </p:nvSpPr>
        <p:spPr>
          <a:xfrm>
            <a:off x="6766560" y="3383280"/>
            <a:ext cx="4572000" cy="320040"/>
          </a:xfrm>
          <a:prstGeom prst="rect">
            <a:avLst/>
          </a:prstGeom>
          <a:noFill/>
          <a:ln/>
        </p:spPr>
        <p:txBody>
          <a:bodyPr wrap="square" lIns="0" tIns="0" rIns="0" bIns="0" rtlCol="0" anchor="ctr"/>
          <a:lstStyle/>
          <a:p>
            <a:pPr indent="0" marL="0">
              <a:buNone/>
            </a:pPr>
            <a:r>
              <a:rPr lang="en-US" sz="1600" dirty="0">
                <a:solidFill>
                  <a:schemeClr val="bg1"/>
                </a:solidFill>
              </a:rPr>
              <a:t>2 lần chuyển tuyến</a:t>
            </a:r>
            <a:endParaRPr lang="en-US" sz="1600" dirty="0"/>
          </a:p>
        </p:txBody>
      </p:sp>
      <p:sp>
        <p:nvSpPr>
          <p:cNvPr id="13" name="result transfer card"/>
          <p:cNvSpPr/>
          <p:nvPr/>
        </p:nvSpPr>
        <p:spPr>
          <a:xfrm>
            <a:off x="6492240" y="4160520"/>
            <a:ext cx="5148072" cy="1783080"/>
          </a:xfrm>
          <a:prstGeom prst="roundRect">
            <a:avLst>
              <a:gd name="adj" fmla="val 6154"/>
            </a:avLst>
          </a:prstGeom>
          <a:solidFill>
            <a:schemeClr val="accent2"/>
          </a:solidFill>
          <a:ln w="12700">
            <a:solidFill>
              <a:schemeClr val="accent2"/>
            </a:solidFill>
            <a:prstDash val="solid"/>
          </a:ln>
          <a:effectLst>
            <a:outerShdw sx="100000" sy="100000" kx="0" ky="0" algn="bl" rotWithShape="0" blurRad="101600" dist="25400" dir="5400000">
              <a:srgbClr val="000000">
                <a:alpha val="14000"/>
              </a:srgbClr>
            </a:outerShdw>
          </a:effectLst>
        </p:spPr>
      </p:sp>
      <p:sp>
        <p:nvSpPr>
          <p:cNvPr id="14" name="result transfer label"/>
          <p:cNvSpPr txBox="1"/>
          <p:nvPr/>
        </p:nvSpPr>
        <p:spPr>
          <a:xfrm>
            <a:off x="6766560" y="4297680"/>
            <a:ext cx="4572000" cy="320040"/>
          </a:xfrm>
          <a:prstGeom prst="rect">
            <a:avLst/>
          </a:prstGeom>
          <a:noFill/>
          <a:ln/>
        </p:spPr>
        <p:txBody>
          <a:bodyPr wrap="square" lIns="0" tIns="0" rIns="0" bIns="0" rtlCol="0" anchor="ctr"/>
          <a:lstStyle/>
          <a:p>
            <a:pPr indent="0" marL="0">
              <a:buNone/>
            </a:pPr>
            <a:r>
              <a:rPr lang="en-US" sz="1600" dirty="0">
                <a:solidFill>
                  <a:schemeClr val="tx1"/>
                </a:solidFill>
              </a:rPr>
              <a:t>Ít chuyển tuyến nhất</a:t>
            </a:r>
            <a:endParaRPr lang="en-US" sz="1600" dirty="0"/>
          </a:p>
        </p:txBody>
      </p:sp>
      <p:sp>
        <p:nvSpPr>
          <p:cNvPr id="15" name="result transfer value"/>
          <p:cNvSpPr txBox="1"/>
          <p:nvPr/>
        </p:nvSpPr>
        <p:spPr>
          <a:xfrm>
            <a:off x="6766560" y="4663440"/>
            <a:ext cx="4572000" cy="685800"/>
          </a:xfrm>
          <a:prstGeom prst="rect">
            <a:avLst/>
          </a:prstGeom>
          <a:noFill/>
          <a:ln/>
        </p:spPr>
        <p:txBody>
          <a:bodyPr wrap="square" lIns="0" tIns="0" rIns="0" bIns="0" rtlCol="0" anchor="ctr"/>
          <a:lstStyle/>
          <a:p>
            <a:pPr indent="0" marL="0">
              <a:buNone/>
            </a:pPr>
            <a:r>
              <a:rPr lang="en-US" sz="4000" b="1" dirty="0">
                <a:solidFill>
                  <a:schemeClr val="tx1"/>
                </a:solidFill>
              </a:rPr>
              <a:t>2 giờ 16 phút</a:t>
            </a:r>
            <a:endParaRPr lang="en-US" sz="4000" dirty="0"/>
          </a:p>
        </p:txBody>
      </p:sp>
      <p:sp>
        <p:nvSpPr>
          <p:cNvPr id="16" name="result transfer sub"/>
          <p:cNvSpPr txBox="1"/>
          <p:nvPr/>
        </p:nvSpPr>
        <p:spPr>
          <a:xfrm>
            <a:off x="6766560" y="5394960"/>
            <a:ext cx="4572000" cy="320040"/>
          </a:xfrm>
          <a:prstGeom prst="rect">
            <a:avLst/>
          </a:prstGeom>
          <a:noFill/>
          <a:ln/>
        </p:spPr>
        <p:txBody>
          <a:bodyPr wrap="square" lIns="0" tIns="0" rIns="0" bIns="0" rtlCol="0" anchor="ctr"/>
          <a:lstStyle/>
          <a:p>
            <a:pPr indent="0" marL="0">
              <a:buNone/>
            </a:pPr>
            <a:r>
              <a:rPr lang="en-US" sz="1600" dirty="0">
                <a:solidFill>
                  <a:schemeClr val="tx1"/>
                </a:solidFill>
              </a:rPr>
              <a:t>1 lần chuyển tuyến</a:t>
            </a:r>
            <a:endParaRPr lang="en-US" sz="1600" dirty="0"/>
          </a:p>
        </p:txBody>
      </p:sp>
      <p:sp>
        <p:nvSpPr>
          <p:cNvPr id="17" name="example caption"/>
          <p:cNvSpPr txBox="1"/>
          <p:nvPr/>
        </p:nvSpPr>
        <p:spPr>
          <a:xfrm>
            <a:off x="6492240" y="6080760"/>
            <a:ext cx="5120640" cy="274320"/>
          </a:xfrm>
          <a:prstGeom prst="rect">
            <a:avLst/>
          </a:prstGeom>
          <a:noFill/>
          <a:ln/>
        </p:spPr>
        <p:txBody>
          <a:bodyPr wrap="square" lIns="0" tIns="0" rIns="0" bIns="0" rtlCol="0" anchor="ctr"/>
          <a:lstStyle/>
          <a:p>
            <a:pPr indent="0" marL="0">
              <a:buNone/>
            </a:pPr>
            <a:r>
              <a:rPr lang="en-US" sz="1200" dirty="0">
                <a:solidFill>
                  <a:schemeClr val="accent5"/>
                </a:solidFill>
              </a:rPr>
              <a:t>Số liệu từ bộ dữ liệu mô phỏng</a:t>
            </a:r>
            <a:endParaRPr lang="en-US" sz="12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Giao diện tìm đường và so sánh phương án</a:t>
            </a:r>
            <a:endParaRPr lang="en-US" sz="3400" dirty="0"/>
          </a:p>
        </p:txBody>
      </p:sp>
      <p:sp>
        <p:nvSpPr>
          <p:cNvPr id="3" name="u1 icon circle"/>
          <p:cNvSpPr/>
          <p:nvPr/>
        </p:nvSpPr>
        <p:spPr>
          <a:xfrm>
            <a:off x="548640" y="1645920"/>
            <a:ext cx="731520" cy="731520"/>
          </a:xfrm>
          <a:prstGeom prst="ellipse">
            <a:avLst/>
          </a:prstGeom>
          <a:solidFill>
            <a:schemeClr val="accent1"/>
          </a:solidFill>
          <a:ln w="12700">
            <a:solidFill>
              <a:schemeClr val="accent1"/>
            </a:solidFill>
            <a:prstDash val="solid"/>
          </a:ln>
        </p:spPr>
      </p:sp>
      <p:pic>
        <p:nvPicPr>
          <p:cNvPr id="4" name="u1 icon" descr="u1 icon">    </p:cNvPr>
          <p:cNvPicPr>
            <a:picLocks noChangeAspect="1"/>
          </p:cNvPicPr>
          <p:nvPr/>
        </p:nvPicPr>
        <p:blipFill>
          <a:blip r:embed="rId1"/>
          <a:stretch>
            <a:fillRect/>
          </a:stretch>
        </p:blipFill>
        <p:spPr>
          <a:xfrm>
            <a:off x="731520" y="1828800"/>
            <a:ext cx="365760" cy="365760"/>
          </a:xfrm>
          <a:prstGeom prst="rect">
            <a:avLst/>
          </a:prstGeom>
        </p:spPr>
      </p:pic>
      <p:sp>
        <p:nvSpPr>
          <p:cNvPr id="5" name="u1 head"/>
          <p:cNvSpPr txBox="1"/>
          <p:nvPr/>
        </p:nvSpPr>
        <p:spPr>
          <a:xfrm>
            <a:off x="1508760" y="1600200"/>
            <a:ext cx="4343400" cy="365760"/>
          </a:xfrm>
          <a:prstGeom prst="rect">
            <a:avLst/>
          </a:prstGeom>
          <a:noFill/>
          <a:ln/>
        </p:spPr>
        <p:txBody>
          <a:bodyPr wrap="square" lIns="0" tIns="0" rIns="0" bIns="0" rtlCol="0" anchor="t"/>
          <a:lstStyle/>
          <a:p>
            <a:pPr indent="0" marL="0">
              <a:buNone/>
            </a:pPr>
            <a:r>
              <a:rPr lang="en-US" sz="2000" b="1" dirty="0">
                <a:solidFill>
                  <a:schemeClr val="tx1"/>
                </a:solidFill>
              </a:rPr>
              <a:t>Chọn trạm dễ dàng</a:t>
            </a:r>
            <a:endParaRPr lang="en-US" sz="2000" dirty="0"/>
          </a:p>
        </p:txBody>
      </p:sp>
      <p:sp>
        <p:nvSpPr>
          <p:cNvPr id="6" name="u1 desc"/>
          <p:cNvSpPr txBox="1"/>
          <p:nvPr/>
        </p:nvSpPr>
        <p:spPr>
          <a:xfrm>
            <a:off x="1508760" y="1993392"/>
            <a:ext cx="4343400" cy="777240"/>
          </a:xfrm>
          <a:prstGeom prst="rect">
            <a:avLst/>
          </a:prstGeom>
          <a:noFill/>
          <a:ln/>
        </p:spPr>
        <p:txBody>
          <a:bodyPr wrap="square" lIns="0" tIns="0" rIns="0" bIns="0" rtlCol="0" anchor="t"/>
          <a:lstStyle/>
          <a:p>
            <a:pPr indent="0" marL="0">
              <a:buNone/>
            </a:pPr>
            <a:r>
              <a:rPr lang="en-US" sz="1500" dirty="0">
                <a:solidFill>
                  <a:schemeClr val="accent5"/>
                </a:solidFill>
              </a:rPr>
              <a:t>Gõ tên để lọc gợi ý, đổi chiều bằng một lần bấm.</a:t>
            </a:r>
            <a:endParaRPr lang="en-US" sz="1500" dirty="0"/>
          </a:p>
        </p:txBody>
      </p:sp>
      <p:sp>
        <p:nvSpPr>
          <p:cNvPr id="7" name="u2 icon circle"/>
          <p:cNvSpPr/>
          <p:nvPr/>
        </p:nvSpPr>
        <p:spPr>
          <a:xfrm>
            <a:off x="548640" y="3200400"/>
            <a:ext cx="731520" cy="731520"/>
          </a:xfrm>
          <a:prstGeom prst="ellipse">
            <a:avLst/>
          </a:prstGeom>
          <a:solidFill>
            <a:schemeClr val="accent2"/>
          </a:solidFill>
          <a:ln w="12700">
            <a:solidFill>
              <a:schemeClr val="accent2"/>
            </a:solidFill>
            <a:prstDash val="solid"/>
          </a:ln>
        </p:spPr>
      </p:sp>
      <p:pic>
        <p:nvPicPr>
          <p:cNvPr id="8" name="u2 icon" descr="u2 icon">    </p:cNvPr>
          <p:cNvPicPr>
            <a:picLocks noChangeAspect="1"/>
          </p:cNvPicPr>
          <p:nvPr/>
        </p:nvPicPr>
        <p:blipFill>
          <a:blip r:embed="rId2"/>
          <a:stretch>
            <a:fillRect/>
          </a:stretch>
        </p:blipFill>
        <p:spPr>
          <a:xfrm>
            <a:off x="731520" y="3383280"/>
            <a:ext cx="365760" cy="365760"/>
          </a:xfrm>
          <a:prstGeom prst="rect">
            <a:avLst/>
          </a:prstGeom>
        </p:spPr>
      </p:pic>
      <p:sp>
        <p:nvSpPr>
          <p:cNvPr id="9" name="u2 head"/>
          <p:cNvSpPr txBox="1"/>
          <p:nvPr/>
        </p:nvSpPr>
        <p:spPr>
          <a:xfrm>
            <a:off x="1508760" y="3154680"/>
            <a:ext cx="4343400" cy="365760"/>
          </a:xfrm>
          <a:prstGeom prst="rect">
            <a:avLst/>
          </a:prstGeom>
          <a:noFill/>
          <a:ln/>
        </p:spPr>
        <p:txBody>
          <a:bodyPr wrap="square" lIns="0" tIns="0" rIns="0" bIns="0" rtlCol="0" anchor="t"/>
          <a:lstStyle/>
          <a:p>
            <a:pPr indent="0" marL="0">
              <a:buNone/>
            </a:pPr>
            <a:r>
              <a:rPr lang="en-US" sz="2000" b="1" dirty="0">
                <a:solidFill>
                  <a:schemeClr val="tx1"/>
                </a:solidFill>
              </a:rPr>
              <a:t>So sánh song song</a:t>
            </a:r>
            <a:endParaRPr lang="en-US" sz="2000" dirty="0"/>
          </a:p>
        </p:txBody>
      </p:sp>
      <p:sp>
        <p:nvSpPr>
          <p:cNvPr id="10" name="u2 desc"/>
          <p:cNvSpPr txBox="1"/>
          <p:nvPr/>
        </p:nvSpPr>
        <p:spPr>
          <a:xfrm>
            <a:off x="1508760" y="3547872"/>
            <a:ext cx="4343400" cy="777240"/>
          </a:xfrm>
          <a:prstGeom prst="rect">
            <a:avLst/>
          </a:prstGeom>
          <a:noFill/>
          <a:ln/>
        </p:spPr>
        <p:txBody>
          <a:bodyPr wrap="square" lIns="0" tIns="0" rIns="0" bIns="0" rtlCol="0" anchor="t"/>
          <a:lstStyle/>
          <a:p>
            <a:pPr indent="0" marL="0">
              <a:buNone/>
            </a:pPr>
            <a:r>
              <a:rPr lang="en-US" sz="1500" dirty="0">
                <a:solidFill>
                  <a:schemeClr val="accent5"/>
                </a:solidFill>
              </a:rPr>
              <a:t>Phương án ngắn nhất và ít chuyển tuyến nhất nằm cạnh nhau.</a:t>
            </a:r>
            <a:endParaRPr lang="en-US" sz="1500" dirty="0"/>
          </a:p>
        </p:txBody>
      </p:sp>
      <p:sp>
        <p:nvSpPr>
          <p:cNvPr id="11" name="u3 icon circle"/>
          <p:cNvSpPr/>
          <p:nvPr/>
        </p:nvSpPr>
        <p:spPr>
          <a:xfrm>
            <a:off x="548640" y="4754880"/>
            <a:ext cx="731520" cy="731520"/>
          </a:xfrm>
          <a:prstGeom prst="ellipse">
            <a:avLst/>
          </a:prstGeom>
          <a:solidFill>
            <a:schemeClr val="accent4"/>
          </a:solidFill>
          <a:ln w="12700">
            <a:solidFill>
              <a:schemeClr val="accent4"/>
            </a:solidFill>
            <a:prstDash val="solid"/>
          </a:ln>
        </p:spPr>
      </p:sp>
      <p:pic>
        <p:nvPicPr>
          <p:cNvPr id="12" name="u3 icon" descr="u3 icon">    </p:cNvPr>
          <p:cNvPicPr>
            <a:picLocks noChangeAspect="1"/>
          </p:cNvPicPr>
          <p:nvPr/>
        </p:nvPicPr>
        <p:blipFill>
          <a:blip r:embed="rId3"/>
          <a:stretch>
            <a:fillRect/>
          </a:stretch>
        </p:blipFill>
        <p:spPr>
          <a:xfrm>
            <a:off x="731520" y="4937760"/>
            <a:ext cx="365760" cy="365760"/>
          </a:xfrm>
          <a:prstGeom prst="rect">
            <a:avLst/>
          </a:prstGeom>
        </p:spPr>
      </p:pic>
      <p:sp>
        <p:nvSpPr>
          <p:cNvPr id="13" name="u3 head"/>
          <p:cNvSpPr txBox="1"/>
          <p:nvPr/>
        </p:nvSpPr>
        <p:spPr>
          <a:xfrm>
            <a:off x="1508760" y="4709160"/>
            <a:ext cx="4343400" cy="365760"/>
          </a:xfrm>
          <a:prstGeom prst="rect">
            <a:avLst/>
          </a:prstGeom>
          <a:noFill/>
          <a:ln/>
        </p:spPr>
        <p:txBody>
          <a:bodyPr wrap="square" lIns="0" tIns="0" rIns="0" bIns="0" rtlCol="0" anchor="t"/>
          <a:lstStyle/>
          <a:p>
            <a:pPr indent="0" marL="0">
              <a:buNone/>
            </a:pPr>
            <a:r>
              <a:rPr lang="en-US" sz="2000" b="1" dirty="0">
                <a:solidFill>
                  <a:schemeClr val="tx1"/>
                </a:solidFill>
              </a:rPr>
              <a:t>Từng chặng rõ ràng</a:t>
            </a:r>
            <a:endParaRPr lang="en-US" sz="2000" dirty="0"/>
          </a:p>
        </p:txBody>
      </p:sp>
      <p:sp>
        <p:nvSpPr>
          <p:cNvPr id="14" name="u3 desc"/>
          <p:cNvSpPr txBox="1"/>
          <p:nvPr/>
        </p:nvSpPr>
        <p:spPr>
          <a:xfrm>
            <a:off x="1508760" y="5102352"/>
            <a:ext cx="4343400" cy="777240"/>
          </a:xfrm>
          <a:prstGeom prst="rect">
            <a:avLst/>
          </a:prstGeom>
          <a:noFill/>
          <a:ln/>
        </p:spPr>
        <p:txBody>
          <a:bodyPr wrap="square" lIns="0" tIns="0" rIns="0" bIns="0" rtlCol="0" anchor="t"/>
          <a:lstStyle/>
          <a:p>
            <a:pPr indent="0" marL="0">
              <a:buNone/>
            </a:pPr>
            <a:r>
              <a:rPr lang="en-US" sz="1500" dirty="0">
                <a:solidFill>
                  <a:schemeClr val="accent5"/>
                </a:solidFill>
              </a:rPr>
              <a:t>Tuyến, trạm xuống, thời gian chờ khi đổi tuyến, lộ trình tô sáng trên đồ thị.</a:t>
            </a:r>
            <a:endParaRPr lang="en-US" sz="1500" dirty="0"/>
          </a:p>
        </p:txBody>
      </p:sp>
      <p:pic>
        <p:nvPicPr>
          <p:cNvPr id="15" name="search screenshot" descr="Màn hình tìm đường với hai phương án">    </p:cNvPr>
          <p:cNvPicPr>
            <a:picLocks noChangeAspect="1"/>
          </p:cNvPicPr>
          <p:nvPr/>
        </p:nvPicPr>
        <p:blipFill>
          <a:blip r:embed="rId4"/>
          <a:stretch>
            <a:fillRect/>
          </a:stretch>
        </p:blipFill>
        <p:spPr>
          <a:xfrm>
            <a:off x="6355080" y="1417320"/>
            <a:ext cx="5285232" cy="4974336"/>
          </a:xfrm>
          <a:prstGeom prst="rect">
            <a:avLst/>
          </a:prstGeom>
          <a:effectLst>
            <a:outerShdw sx="100000" sy="100000" kx="0" ky="0" algn="bl" rotWithShape="0" blurRad="101600" dist="25400" dir="5400000">
              <a:srgbClr val="000000">
                <a:alpha val="14000"/>
              </a:srgbClr>
            </a:outerShdw>
          </a:effectLst>
        </p:spPr>
      </p:pic>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Quản trị dữ liệu và đồ thị mạng lưới</a:t>
            </a:r>
            <a:endParaRPr lang="en-US" sz="3400" dirty="0"/>
          </a:p>
        </p:txBody>
      </p:sp>
      <p:pic>
        <p:nvPicPr>
          <p:cNvPr id="3" name="graph screenshot" descr="Đồ thị mạng lưới các tuyến theo tọa độ">    </p:cNvPr>
          <p:cNvPicPr>
            <a:picLocks noChangeAspect="1"/>
          </p:cNvPicPr>
          <p:nvPr/>
        </p:nvPicPr>
        <p:blipFill>
          <a:blip r:embed="rId1"/>
          <a:stretch>
            <a:fillRect/>
          </a:stretch>
        </p:blipFill>
        <p:spPr>
          <a:xfrm>
            <a:off x="548640" y="1554480"/>
            <a:ext cx="6492240" cy="4297680"/>
          </a:xfrm>
          <a:prstGeom prst="rect">
            <a:avLst/>
          </a:prstGeom>
          <a:effectLst>
            <a:outerShdw sx="100000" sy="100000" kx="0" ky="0" algn="bl" rotWithShape="0" blurRad="101600" dist="25400" dir="5400000">
              <a:srgbClr val="000000">
                <a:alpha val="14000"/>
              </a:srgbClr>
            </a:outerShdw>
          </a:effectLst>
        </p:spPr>
      </p:pic>
      <p:sp>
        <p:nvSpPr>
          <p:cNvPr id="4" name="c1 icon circle"/>
          <p:cNvSpPr/>
          <p:nvPr/>
        </p:nvSpPr>
        <p:spPr>
          <a:xfrm>
            <a:off x="7406640" y="1645920"/>
            <a:ext cx="731520" cy="731520"/>
          </a:xfrm>
          <a:prstGeom prst="ellipse">
            <a:avLst/>
          </a:prstGeom>
          <a:solidFill>
            <a:schemeClr val="accent1"/>
          </a:solidFill>
          <a:ln w="12700">
            <a:solidFill>
              <a:schemeClr val="accent1"/>
            </a:solidFill>
            <a:prstDash val="solid"/>
          </a:ln>
        </p:spPr>
      </p:sp>
      <p:pic>
        <p:nvPicPr>
          <p:cNvPr id="5" name="c1 icon" descr="c1 icon">    </p:cNvPr>
          <p:cNvPicPr>
            <a:picLocks noChangeAspect="1"/>
          </p:cNvPicPr>
          <p:nvPr/>
        </p:nvPicPr>
        <p:blipFill>
          <a:blip r:embed="rId2"/>
          <a:stretch>
            <a:fillRect/>
          </a:stretch>
        </p:blipFill>
        <p:spPr>
          <a:xfrm>
            <a:off x="7589520" y="1828800"/>
            <a:ext cx="365760" cy="365760"/>
          </a:xfrm>
          <a:prstGeom prst="rect">
            <a:avLst/>
          </a:prstGeom>
        </p:spPr>
      </p:pic>
      <p:sp>
        <p:nvSpPr>
          <p:cNvPr id="6" name="c1 head"/>
          <p:cNvSpPr txBox="1"/>
          <p:nvPr/>
        </p:nvSpPr>
        <p:spPr>
          <a:xfrm>
            <a:off x="8366760" y="1600200"/>
            <a:ext cx="3291840" cy="365760"/>
          </a:xfrm>
          <a:prstGeom prst="rect">
            <a:avLst/>
          </a:prstGeom>
          <a:noFill/>
          <a:ln/>
        </p:spPr>
        <p:txBody>
          <a:bodyPr wrap="square" lIns="0" tIns="0" rIns="0" bIns="0" rtlCol="0" anchor="t"/>
          <a:lstStyle/>
          <a:p>
            <a:pPr indent="0" marL="0">
              <a:buNone/>
            </a:pPr>
            <a:r>
              <a:rPr lang="en-US" sz="2000" b="1" dirty="0">
                <a:solidFill>
                  <a:schemeClr val="tx1"/>
                </a:solidFill>
              </a:rPr>
              <a:t>Trạm dừng</a:t>
            </a:r>
            <a:endParaRPr lang="en-US" sz="2000" dirty="0"/>
          </a:p>
        </p:txBody>
      </p:sp>
      <p:sp>
        <p:nvSpPr>
          <p:cNvPr id="7" name="c1 desc"/>
          <p:cNvSpPr txBox="1"/>
          <p:nvPr/>
        </p:nvSpPr>
        <p:spPr>
          <a:xfrm>
            <a:off x="8366760" y="1993392"/>
            <a:ext cx="3291840" cy="777240"/>
          </a:xfrm>
          <a:prstGeom prst="rect">
            <a:avLst/>
          </a:prstGeom>
          <a:noFill/>
          <a:ln/>
        </p:spPr>
        <p:txBody>
          <a:bodyPr wrap="square" lIns="0" tIns="0" rIns="0" bIns="0" rtlCol="0" anchor="t"/>
          <a:lstStyle/>
          <a:p>
            <a:pPr indent="0" marL="0">
              <a:buNone/>
            </a:pPr>
            <a:r>
              <a:rPr lang="en-US" sz="1500" dirty="0">
                <a:solidFill>
                  <a:schemeClr val="accent5"/>
                </a:solidFill>
              </a:rPr>
              <a:t>Thêm, sửa, xóa. Xóa trạm tự nối lại trạm trước với trạm sau.</a:t>
            </a:r>
            <a:endParaRPr lang="en-US" sz="1500" dirty="0"/>
          </a:p>
        </p:txBody>
      </p:sp>
      <p:sp>
        <p:nvSpPr>
          <p:cNvPr id="8" name="c2 icon circle"/>
          <p:cNvSpPr/>
          <p:nvPr/>
        </p:nvSpPr>
        <p:spPr>
          <a:xfrm>
            <a:off x="7406640" y="3246120"/>
            <a:ext cx="731520" cy="731520"/>
          </a:xfrm>
          <a:prstGeom prst="ellipse">
            <a:avLst/>
          </a:prstGeom>
          <a:solidFill>
            <a:schemeClr val="accent2"/>
          </a:solidFill>
          <a:ln w="12700">
            <a:solidFill>
              <a:schemeClr val="accent2"/>
            </a:solidFill>
            <a:prstDash val="solid"/>
          </a:ln>
        </p:spPr>
      </p:sp>
      <p:pic>
        <p:nvPicPr>
          <p:cNvPr id="9" name="c2 icon" descr="c2 icon">    </p:cNvPr>
          <p:cNvPicPr>
            <a:picLocks noChangeAspect="1"/>
          </p:cNvPicPr>
          <p:nvPr/>
        </p:nvPicPr>
        <p:blipFill>
          <a:blip r:embed="rId3"/>
          <a:stretch>
            <a:fillRect/>
          </a:stretch>
        </p:blipFill>
        <p:spPr>
          <a:xfrm>
            <a:off x="7589520" y="3429000"/>
            <a:ext cx="365760" cy="365760"/>
          </a:xfrm>
          <a:prstGeom prst="rect">
            <a:avLst/>
          </a:prstGeom>
        </p:spPr>
      </p:pic>
      <p:sp>
        <p:nvSpPr>
          <p:cNvPr id="10" name="c2 head"/>
          <p:cNvSpPr txBox="1"/>
          <p:nvPr/>
        </p:nvSpPr>
        <p:spPr>
          <a:xfrm>
            <a:off x="8366760" y="3200400"/>
            <a:ext cx="3291840" cy="365760"/>
          </a:xfrm>
          <a:prstGeom prst="rect">
            <a:avLst/>
          </a:prstGeom>
          <a:noFill/>
          <a:ln/>
        </p:spPr>
        <p:txBody>
          <a:bodyPr wrap="square" lIns="0" tIns="0" rIns="0" bIns="0" rtlCol="0" anchor="t"/>
          <a:lstStyle/>
          <a:p>
            <a:pPr indent="0" marL="0">
              <a:buNone/>
            </a:pPr>
            <a:r>
              <a:rPr lang="en-US" sz="2000" b="1" dirty="0">
                <a:solidFill>
                  <a:schemeClr val="tx1"/>
                </a:solidFill>
              </a:rPr>
              <a:t>Tuyến xe</a:t>
            </a:r>
            <a:endParaRPr lang="en-US" sz="2000" dirty="0"/>
          </a:p>
        </p:txBody>
      </p:sp>
      <p:sp>
        <p:nvSpPr>
          <p:cNvPr id="11" name="c2 desc"/>
          <p:cNvSpPr txBox="1"/>
          <p:nvPr/>
        </p:nvSpPr>
        <p:spPr>
          <a:xfrm>
            <a:off x="8366760" y="3593592"/>
            <a:ext cx="3291840" cy="777240"/>
          </a:xfrm>
          <a:prstGeom prst="rect">
            <a:avLst/>
          </a:prstGeom>
          <a:noFill/>
          <a:ln/>
        </p:spPr>
        <p:txBody>
          <a:bodyPr wrap="square" lIns="0" tIns="0" rIns="0" bIns="0" rtlCol="0" anchor="t"/>
          <a:lstStyle/>
          <a:p>
            <a:pPr indent="0" marL="0">
              <a:buNone/>
            </a:pPr>
            <a:r>
              <a:rPr lang="en-US" sz="1500" dirty="0">
                <a:solidFill>
                  <a:schemeClr val="accent5"/>
                </a:solidFill>
              </a:rPr>
              <a:t>Sắp xếp trạm, sửa trọng số từng đoạn đường.</a:t>
            </a:r>
            <a:endParaRPr lang="en-US" sz="1500" dirty="0"/>
          </a:p>
        </p:txBody>
      </p:sp>
      <p:sp>
        <p:nvSpPr>
          <p:cNvPr id="12" name="c3 icon circle"/>
          <p:cNvSpPr/>
          <p:nvPr/>
        </p:nvSpPr>
        <p:spPr>
          <a:xfrm>
            <a:off x="7406640" y="4846320"/>
            <a:ext cx="731520" cy="731520"/>
          </a:xfrm>
          <a:prstGeom prst="ellipse">
            <a:avLst/>
          </a:prstGeom>
          <a:solidFill>
            <a:schemeClr val="accent4"/>
          </a:solidFill>
          <a:ln w="12700">
            <a:solidFill>
              <a:schemeClr val="accent4"/>
            </a:solidFill>
            <a:prstDash val="solid"/>
          </a:ln>
        </p:spPr>
      </p:sp>
      <p:pic>
        <p:nvPicPr>
          <p:cNvPr id="13" name="c3 icon" descr="c3 icon">    </p:cNvPr>
          <p:cNvPicPr>
            <a:picLocks noChangeAspect="1"/>
          </p:cNvPicPr>
          <p:nvPr/>
        </p:nvPicPr>
        <p:blipFill>
          <a:blip r:embed="rId4"/>
          <a:stretch>
            <a:fillRect/>
          </a:stretch>
        </p:blipFill>
        <p:spPr>
          <a:xfrm>
            <a:off x="7589520" y="5029200"/>
            <a:ext cx="365760" cy="365760"/>
          </a:xfrm>
          <a:prstGeom prst="rect">
            <a:avLst/>
          </a:prstGeom>
        </p:spPr>
      </p:pic>
      <p:sp>
        <p:nvSpPr>
          <p:cNvPr id="14" name="c3 head"/>
          <p:cNvSpPr txBox="1"/>
          <p:nvPr/>
        </p:nvSpPr>
        <p:spPr>
          <a:xfrm>
            <a:off x="8366760" y="4800600"/>
            <a:ext cx="3291840" cy="365760"/>
          </a:xfrm>
          <a:prstGeom prst="rect">
            <a:avLst/>
          </a:prstGeom>
          <a:noFill/>
          <a:ln/>
        </p:spPr>
        <p:txBody>
          <a:bodyPr wrap="square" lIns="0" tIns="0" rIns="0" bIns="0" rtlCol="0" anchor="t"/>
          <a:lstStyle/>
          <a:p>
            <a:pPr indent="0" marL="0">
              <a:buNone/>
            </a:pPr>
            <a:r>
              <a:rPr lang="en-US" sz="2000" b="1" dirty="0">
                <a:solidFill>
                  <a:schemeClr val="tx1"/>
                </a:solidFill>
              </a:rPr>
              <a:t>Giờ xuất bến</a:t>
            </a:r>
            <a:endParaRPr lang="en-US" sz="2000" dirty="0"/>
          </a:p>
        </p:txBody>
      </p:sp>
      <p:sp>
        <p:nvSpPr>
          <p:cNvPr id="15" name="c3 desc"/>
          <p:cNvSpPr txBox="1"/>
          <p:nvPr/>
        </p:nvSpPr>
        <p:spPr>
          <a:xfrm>
            <a:off x="8366760" y="5193792"/>
            <a:ext cx="3291840" cy="777240"/>
          </a:xfrm>
          <a:prstGeom prst="rect">
            <a:avLst/>
          </a:prstGeom>
          <a:noFill/>
          <a:ln/>
        </p:spPr>
        <p:txBody>
          <a:bodyPr wrap="square" lIns="0" tIns="0" rIns="0" bIns="0" rtlCol="0" anchor="t"/>
          <a:lstStyle/>
          <a:p>
            <a:pPr indent="0" marL="0">
              <a:buNone/>
            </a:pPr>
            <a:r>
              <a:rPr lang="en-US" sz="1500" dirty="0">
                <a:solidFill>
                  <a:schemeClr val="accent5"/>
                </a:solidFill>
              </a:rPr>
              <a:t>Thêm hoặc xóa giờ chạy theo lượt đi và lượt về.</a:t>
            </a:r>
            <a:endParaRPr lang="en-US" sz="1500" dirty="0"/>
          </a:p>
        </p:txBody>
      </p:sp>
      <p:sp>
        <p:nvSpPr>
          <p:cNvPr id="16" name="graph caption"/>
          <p:cNvSpPr txBox="1"/>
          <p:nvPr/>
        </p:nvSpPr>
        <p:spPr>
          <a:xfrm>
            <a:off x="548640" y="5943600"/>
            <a:ext cx="6492240" cy="274320"/>
          </a:xfrm>
          <a:prstGeom prst="rect">
            <a:avLst/>
          </a:prstGeom>
          <a:noFill/>
          <a:ln/>
        </p:spPr>
        <p:txBody>
          <a:bodyPr wrap="square" lIns="0" tIns="0" rIns="0" bIns="0" rtlCol="0" anchor="ctr"/>
          <a:lstStyle/>
          <a:p>
            <a:pPr indent="0" marL="0">
              <a:buNone/>
            </a:pPr>
            <a:r>
              <a:rPr lang="en-US" sz="1300" dirty="0">
                <a:solidFill>
                  <a:schemeClr val="accent5"/>
                </a:solidFill>
              </a:rPr>
              <a:t>Nút đặt theo tọa độ, cạnh tô màu theo tuyến</a:t>
            </a:r>
            <a:endParaRPr lang="en-US" sz="13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Kiểm thử và kết quả</a:t>
            </a:r>
            <a:endParaRPr lang="en-US" sz="3400" dirty="0"/>
          </a:p>
        </p:txBody>
      </p:sp>
      <p:sp>
        <p:nvSpPr>
          <p:cNvPr id="3" name="test stat card"/>
          <p:cNvSpPr/>
          <p:nvPr/>
        </p:nvSpPr>
        <p:spPr>
          <a:xfrm>
            <a:off x="548640" y="1554480"/>
            <a:ext cx="3566160" cy="4206240"/>
          </a:xfrm>
          <a:prstGeom prst="roundRect">
            <a:avLst>
              <a:gd name="adj" fmla="val 3077"/>
            </a:avLst>
          </a:prstGeom>
          <a:solidFill>
            <a:schemeClr val="tx1"/>
          </a:solidFill>
          <a:ln w="12700">
            <a:solidFill>
              <a:schemeClr val="tx1"/>
            </a:solidFill>
            <a:prstDash val="solid"/>
          </a:ln>
          <a:effectLst>
            <a:outerShdw sx="100000" sy="100000" kx="0" ky="0" algn="bl" rotWithShape="0" blurRad="101600" dist="25400" dir="5400000">
              <a:srgbClr val="000000">
                <a:alpha val="14000"/>
              </a:srgbClr>
            </a:outerShdw>
          </a:effectLst>
        </p:spPr>
      </p:sp>
      <p:sp>
        <p:nvSpPr>
          <p:cNvPr id="4" name="test stat number"/>
          <p:cNvSpPr txBox="1"/>
          <p:nvPr/>
        </p:nvSpPr>
        <p:spPr>
          <a:xfrm>
            <a:off x="822960" y="2103120"/>
            <a:ext cx="3017520" cy="1188720"/>
          </a:xfrm>
          <a:prstGeom prst="rect">
            <a:avLst/>
          </a:prstGeom>
          <a:noFill/>
          <a:ln/>
        </p:spPr>
        <p:txBody>
          <a:bodyPr wrap="square" lIns="0" tIns="0" rIns="0" bIns="0" rtlCol="0" anchor="ctr"/>
          <a:lstStyle/>
          <a:p>
            <a:pPr algn="ctr" indent="0" marL="0">
              <a:buNone/>
            </a:pPr>
            <a:r>
              <a:rPr lang="en-US" sz="6600" b="1" dirty="0">
                <a:solidFill>
                  <a:schemeClr val="accent2"/>
                </a:solidFill>
              </a:rPr>
              <a:t>13/13</a:t>
            </a:r>
            <a:endParaRPr lang="en-US" sz="6600" dirty="0"/>
          </a:p>
        </p:txBody>
      </p:sp>
      <p:sp>
        <p:nvSpPr>
          <p:cNvPr id="5" name="test stat label"/>
          <p:cNvSpPr txBox="1"/>
          <p:nvPr/>
        </p:nvSpPr>
        <p:spPr>
          <a:xfrm>
            <a:off x="822960" y="3383280"/>
            <a:ext cx="3017520" cy="457200"/>
          </a:xfrm>
          <a:prstGeom prst="rect">
            <a:avLst/>
          </a:prstGeom>
          <a:noFill/>
          <a:ln/>
        </p:spPr>
        <p:txBody>
          <a:bodyPr wrap="square" lIns="0" tIns="0" rIns="0" bIns="0" rtlCol="0" anchor="ctr"/>
          <a:lstStyle/>
          <a:p>
            <a:pPr algn="ctr" indent="0" marL="0">
              <a:buNone/>
            </a:pPr>
            <a:r>
              <a:rPr lang="en-US" sz="2000" dirty="0">
                <a:solidFill>
                  <a:schemeClr val="bg1"/>
                </a:solidFill>
              </a:rPr>
              <a:t>bài kiểm thử đạt</a:t>
            </a:r>
            <a:endParaRPr lang="en-US" sz="2000" dirty="0"/>
          </a:p>
        </p:txBody>
      </p:sp>
      <p:sp>
        <p:nvSpPr>
          <p:cNvPr id="6" name="test stat sub"/>
          <p:cNvSpPr txBox="1"/>
          <p:nvPr/>
        </p:nvSpPr>
        <p:spPr>
          <a:xfrm>
            <a:off x="822960" y="4114800"/>
            <a:ext cx="3017520" cy="914400"/>
          </a:xfrm>
          <a:prstGeom prst="rect">
            <a:avLst/>
          </a:prstGeom>
          <a:noFill/>
          <a:ln/>
        </p:spPr>
        <p:txBody>
          <a:bodyPr wrap="square" lIns="0" tIns="0" rIns="0" bIns="0" rtlCol="0" anchor="t"/>
          <a:lstStyle/>
          <a:p>
            <a:pPr algn="ctr" indent="0" marL="0">
              <a:buNone/>
            </a:pPr>
            <a:r>
              <a:rPr lang="en-US" sz="1500" dirty="0">
                <a:solidFill>
                  <a:schemeClr val="bg2"/>
                </a:solidFill>
              </a:rPr>
              <a:t>Thuật toán và API, chạy không cần Neo4j</a:t>
            </a:r>
            <a:endParaRPr lang="en-US" sz="1500" dirty="0"/>
          </a:p>
        </p:txBody>
      </p:sp>
      <p:sp>
        <p:nvSpPr>
          <p:cNvPr id="7" name="check 1 circle"/>
          <p:cNvSpPr/>
          <p:nvPr/>
        </p:nvSpPr>
        <p:spPr>
          <a:xfrm>
            <a:off x="4572000" y="1600200"/>
            <a:ext cx="502920" cy="502920"/>
          </a:xfrm>
          <a:prstGeom prst="ellipse">
            <a:avLst/>
          </a:prstGeom>
          <a:solidFill>
            <a:schemeClr val="accent6"/>
          </a:solidFill>
          <a:ln w="12700">
            <a:solidFill>
              <a:schemeClr val="accent6"/>
            </a:solidFill>
            <a:prstDash val="solid"/>
          </a:ln>
        </p:spPr>
      </p:sp>
      <p:pic>
        <p:nvPicPr>
          <p:cNvPr id="8" name="check 1" descr="check 1">    </p:cNvPr>
          <p:cNvPicPr>
            <a:picLocks noChangeAspect="1"/>
          </p:cNvPicPr>
          <p:nvPr/>
        </p:nvPicPr>
        <p:blipFill>
          <a:blip r:embed="rId1"/>
          <a:stretch>
            <a:fillRect/>
          </a:stretch>
        </p:blipFill>
        <p:spPr>
          <a:xfrm>
            <a:off x="4697730" y="1725930"/>
            <a:ext cx="251460" cy="251460"/>
          </a:xfrm>
          <a:prstGeom prst="rect">
            <a:avLst/>
          </a:prstGeom>
        </p:spPr>
      </p:pic>
      <p:sp>
        <p:nvSpPr>
          <p:cNvPr id="9" name="check text 1"/>
          <p:cNvSpPr txBox="1"/>
          <p:nvPr/>
        </p:nvSpPr>
        <p:spPr>
          <a:xfrm>
            <a:off x="5303520" y="1554480"/>
            <a:ext cx="6309360" cy="777240"/>
          </a:xfrm>
          <a:prstGeom prst="rect">
            <a:avLst/>
          </a:prstGeom>
          <a:noFill/>
          <a:ln/>
        </p:spPr>
        <p:txBody>
          <a:bodyPr wrap="square" lIns="0" tIns="0" rIns="0" bIns="0" rtlCol="0" anchor="ctr"/>
          <a:lstStyle/>
          <a:p>
            <a:pPr indent="0" marL="0">
              <a:buNone/>
            </a:pPr>
            <a:r>
              <a:rPr lang="en-US" sz="1700" dirty="0">
                <a:solidFill>
                  <a:schemeClr val="tx1"/>
                </a:solidFill>
              </a:rPr>
              <a:t>Dữ liệu mẫu đạt yêu cầu: 57 trạm, 10 tuyến, 198 cạnh</a:t>
            </a:r>
            <a:endParaRPr lang="en-US" sz="1700" dirty="0"/>
          </a:p>
        </p:txBody>
      </p:sp>
      <p:sp>
        <p:nvSpPr>
          <p:cNvPr id="10" name="check 2 circle"/>
          <p:cNvSpPr/>
          <p:nvPr/>
        </p:nvSpPr>
        <p:spPr>
          <a:xfrm>
            <a:off x="4572000" y="2468880"/>
            <a:ext cx="502920" cy="502920"/>
          </a:xfrm>
          <a:prstGeom prst="ellipse">
            <a:avLst/>
          </a:prstGeom>
          <a:solidFill>
            <a:schemeClr val="accent6"/>
          </a:solidFill>
          <a:ln w="12700">
            <a:solidFill>
              <a:schemeClr val="accent6"/>
            </a:solidFill>
            <a:prstDash val="solid"/>
          </a:ln>
        </p:spPr>
      </p:sp>
      <p:pic>
        <p:nvPicPr>
          <p:cNvPr id="11" name="check 2" descr="check 2">    </p:cNvPr>
          <p:cNvPicPr>
            <a:picLocks noChangeAspect="1"/>
          </p:cNvPicPr>
          <p:nvPr/>
        </p:nvPicPr>
        <p:blipFill>
          <a:blip r:embed="rId2"/>
          <a:stretch>
            <a:fillRect/>
          </a:stretch>
        </p:blipFill>
        <p:spPr>
          <a:xfrm>
            <a:off x="4697730" y="2594610"/>
            <a:ext cx="251460" cy="251460"/>
          </a:xfrm>
          <a:prstGeom prst="rect">
            <a:avLst/>
          </a:prstGeom>
        </p:spPr>
      </p:pic>
      <p:sp>
        <p:nvSpPr>
          <p:cNvPr id="12" name="check text 2"/>
          <p:cNvSpPr txBox="1"/>
          <p:nvPr/>
        </p:nvSpPr>
        <p:spPr>
          <a:xfrm>
            <a:off x="5303520" y="2423160"/>
            <a:ext cx="6309360" cy="777240"/>
          </a:xfrm>
          <a:prstGeom prst="rect">
            <a:avLst/>
          </a:prstGeom>
          <a:noFill/>
          <a:ln/>
        </p:spPr>
        <p:txBody>
          <a:bodyPr wrap="square" lIns="0" tIns="0" rIns="0" bIns="0" rtlCol="0" anchor="ctr"/>
          <a:lstStyle/>
          <a:p>
            <a:pPr indent="0" marL="0">
              <a:buNone/>
            </a:pPr>
            <a:r>
              <a:rPr lang="en-US" sz="1700" dirty="0">
                <a:solidFill>
                  <a:schemeClr val="tx1"/>
                </a:solidFill>
              </a:rPr>
              <a:t>Các chặng nối khớp tại trạm chuyển tuyến</a:t>
            </a:r>
            <a:endParaRPr lang="en-US" sz="1700" dirty="0"/>
          </a:p>
        </p:txBody>
      </p:sp>
      <p:sp>
        <p:nvSpPr>
          <p:cNvPr id="13" name="check 3 circle"/>
          <p:cNvSpPr/>
          <p:nvPr/>
        </p:nvSpPr>
        <p:spPr>
          <a:xfrm>
            <a:off x="4572000" y="3337560"/>
            <a:ext cx="502920" cy="502920"/>
          </a:xfrm>
          <a:prstGeom prst="ellipse">
            <a:avLst/>
          </a:prstGeom>
          <a:solidFill>
            <a:schemeClr val="accent6"/>
          </a:solidFill>
          <a:ln w="12700">
            <a:solidFill>
              <a:schemeClr val="accent6"/>
            </a:solidFill>
            <a:prstDash val="solid"/>
          </a:ln>
        </p:spPr>
      </p:sp>
      <p:pic>
        <p:nvPicPr>
          <p:cNvPr id="14" name="check 3" descr="check 3">    </p:cNvPr>
          <p:cNvPicPr>
            <a:picLocks noChangeAspect="1"/>
          </p:cNvPicPr>
          <p:nvPr/>
        </p:nvPicPr>
        <p:blipFill>
          <a:blip r:embed="rId3"/>
          <a:stretch>
            <a:fillRect/>
          </a:stretch>
        </p:blipFill>
        <p:spPr>
          <a:xfrm>
            <a:off x="4697730" y="3463290"/>
            <a:ext cx="251460" cy="251460"/>
          </a:xfrm>
          <a:prstGeom prst="rect">
            <a:avLst/>
          </a:prstGeom>
        </p:spPr>
      </p:pic>
      <p:sp>
        <p:nvSpPr>
          <p:cNvPr id="15" name="check text 3"/>
          <p:cNvSpPr txBox="1"/>
          <p:nvPr/>
        </p:nvSpPr>
        <p:spPr>
          <a:xfrm>
            <a:off x="5303520" y="3291840"/>
            <a:ext cx="6309360" cy="777240"/>
          </a:xfrm>
          <a:prstGeom prst="rect">
            <a:avLst/>
          </a:prstGeom>
          <a:noFill/>
          <a:ln/>
        </p:spPr>
        <p:txBody>
          <a:bodyPr wrap="square" lIns="0" tIns="0" rIns="0" bIns="0" rtlCol="0" anchor="ctr"/>
          <a:lstStyle/>
          <a:p>
            <a:pPr indent="0" marL="0">
              <a:buNone/>
            </a:pPr>
            <a:r>
              <a:rPr lang="en-US" sz="1700" dirty="0">
                <a:solidFill>
                  <a:schemeClr val="tx1"/>
                </a:solidFill>
              </a:rPr>
              <a:t>Trên hơn 50 cặp trạm: phương án ngắn nhất không chậm hơn, phương án ít chuyển không chuyển nhiều hơn</a:t>
            </a:r>
            <a:endParaRPr lang="en-US" sz="1700" dirty="0"/>
          </a:p>
        </p:txBody>
      </p:sp>
      <p:sp>
        <p:nvSpPr>
          <p:cNvPr id="16" name="check 4 circle"/>
          <p:cNvSpPr/>
          <p:nvPr/>
        </p:nvSpPr>
        <p:spPr>
          <a:xfrm>
            <a:off x="4572000" y="4206240"/>
            <a:ext cx="502920" cy="502920"/>
          </a:xfrm>
          <a:prstGeom prst="ellipse">
            <a:avLst/>
          </a:prstGeom>
          <a:solidFill>
            <a:schemeClr val="accent6"/>
          </a:solidFill>
          <a:ln w="12700">
            <a:solidFill>
              <a:schemeClr val="accent6"/>
            </a:solidFill>
            <a:prstDash val="solid"/>
          </a:ln>
        </p:spPr>
      </p:sp>
      <p:pic>
        <p:nvPicPr>
          <p:cNvPr id="17" name="check 4" descr="check 4">    </p:cNvPr>
          <p:cNvPicPr>
            <a:picLocks noChangeAspect="1"/>
          </p:cNvPicPr>
          <p:nvPr/>
        </p:nvPicPr>
        <p:blipFill>
          <a:blip r:embed="rId4"/>
          <a:stretch>
            <a:fillRect/>
          </a:stretch>
        </p:blipFill>
        <p:spPr>
          <a:xfrm>
            <a:off x="4697730" y="4331970"/>
            <a:ext cx="251460" cy="251460"/>
          </a:xfrm>
          <a:prstGeom prst="rect">
            <a:avLst/>
          </a:prstGeom>
        </p:spPr>
      </p:pic>
      <p:sp>
        <p:nvSpPr>
          <p:cNvPr id="18" name="check text 4"/>
          <p:cNvSpPr txBox="1"/>
          <p:nvPr/>
        </p:nvSpPr>
        <p:spPr>
          <a:xfrm>
            <a:off x="5303520" y="4160520"/>
            <a:ext cx="6309360" cy="777240"/>
          </a:xfrm>
          <a:prstGeom prst="rect">
            <a:avLst/>
          </a:prstGeom>
          <a:noFill/>
          <a:ln/>
        </p:spPr>
        <p:txBody>
          <a:bodyPr wrap="square" lIns="0" tIns="0" rIns="0" bIns="0" rtlCol="0" anchor="ctr"/>
          <a:lstStyle/>
          <a:p>
            <a:pPr indent="0" marL="0">
              <a:buNone/>
            </a:pPr>
            <a:r>
              <a:rPr lang="en-US" sz="1700" dirty="0">
                <a:solidFill>
                  <a:schemeClr val="tx1"/>
                </a:solidFill>
              </a:rPr>
              <a:t>Xử lý trạm cô lập, trạm trùng nhau, chế độ không hợp lệ</a:t>
            </a:r>
            <a:endParaRPr lang="en-US" sz="1700" dirty="0"/>
          </a:p>
        </p:txBody>
      </p:sp>
      <p:sp>
        <p:nvSpPr>
          <p:cNvPr id="19" name="check 5 circle"/>
          <p:cNvSpPr/>
          <p:nvPr/>
        </p:nvSpPr>
        <p:spPr>
          <a:xfrm>
            <a:off x="4572000" y="5074920"/>
            <a:ext cx="502920" cy="502920"/>
          </a:xfrm>
          <a:prstGeom prst="ellipse">
            <a:avLst/>
          </a:prstGeom>
          <a:solidFill>
            <a:schemeClr val="accent6"/>
          </a:solidFill>
          <a:ln w="12700">
            <a:solidFill>
              <a:schemeClr val="accent6"/>
            </a:solidFill>
            <a:prstDash val="solid"/>
          </a:ln>
        </p:spPr>
      </p:sp>
      <p:pic>
        <p:nvPicPr>
          <p:cNvPr id="20" name="check 5" descr="check 5">    </p:cNvPr>
          <p:cNvPicPr>
            <a:picLocks noChangeAspect="1"/>
          </p:cNvPicPr>
          <p:nvPr/>
        </p:nvPicPr>
        <p:blipFill>
          <a:blip r:embed="rId5"/>
          <a:stretch>
            <a:fillRect/>
          </a:stretch>
        </p:blipFill>
        <p:spPr>
          <a:xfrm>
            <a:off x="4697730" y="5200650"/>
            <a:ext cx="251460" cy="251460"/>
          </a:xfrm>
          <a:prstGeom prst="rect">
            <a:avLst/>
          </a:prstGeom>
        </p:spPr>
      </p:pic>
      <p:sp>
        <p:nvSpPr>
          <p:cNvPr id="21" name="check text 5"/>
          <p:cNvSpPr txBox="1"/>
          <p:nvPr/>
        </p:nvSpPr>
        <p:spPr>
          <a:xfrm>
            <a:off x="5303520" y="5029200"/>
            <a:ext cx="6309360" cy="777240"/>
          </a:xfrm>
          <a:prstGeom prst="rect">
            <a:avLst/>
          </a:prstGeom>
          <a:noFill/>
          <a:ln/>
        </p:spPr>
        <p:txBody>
          <a:bodyPr wrap="square" lIns="0" tIns="0" rIns="0" bIns="0" rtlCol="0" anchor="ctr"/>
          <a:lstStyle/>
          <a:p>
            <a:pPr indent="0" marL="0">
              <a:buNone/>
            </a:pPr>
            <a:r>
              <a:rPr lang="en-US" sz="1700" dirty="0">
                <a:solidFill>
                  <a:schemeClr val="tx1"/>
                </a:solidFill>
              </a:rPr>
              <a:t>API trả lỗi 400 hoặc 422 khi dữ liệu đầu vào sai</a:t>
            </a:r>
            <a:endParaRPr lang="en-US" sz="17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indent="0" marL="0">
              <a:buNone/>
            </a:pPr>
            <a:r>
              <a:rPr lang="en-US" sz="3400" b="1" dirty="0">
                <a:solidFill>
                  <a:schemeClr val="tx1"/>
                </a:solidFill>
              </a:rPr>
              <a:t>Hướng phát triển</a:t>
            </a:r>
            <a:endParaRPr lang="en-US" sz="3400" dirty="0"/>
          </a:p>
        </p:txBody>
      </p:sp>
      <p:sp>
        <p:nvSpPr>
          <p:cNvPr id="3" name="idea card 1"/>
          <p:cNvSpPr/>
          <p:nvPr/>
        </p:nvSpPr>
        <p:spPr>
          <a:xfrm>
            <a:off x="548640" y="1600200"/>
            <a:ext cx="5449824" cy="2103120"/>
          </a:xfrm>
          <a:prstGeom prst="roundRect">
            <a:avLst>
              <a:gd name="adj" fmla="val 5217"/>
            </a:avLst>
          </a:prstGeom>
          <a:solidFill>
            <a:schemeClr val="bg2"/>
          </a:solidFill>
          <a:ln w="12700">
            <a:solidFill>
              <a:schemeClr val="bg2"/>
            </a:solidFill>
            <a:prstDash val="solid"/>
          </a:ln>
        </p:spPr>
      </p:sp>
      <p:sp>
        <p:nvSpPr>
          <p:cNvPr id="4" name="idea icon 1 circle"/>
          <p:cNvSpPr/>
          <p:nvPr/>
        </p:nvSpPr>
        <p:spPr>
          <a:xfrm>
            <a:off x="868680" y="1920240"/>
            <a:ext cx="777240" cy="777240"/>
          </a:xfrm>
          <a:prstGeom prst="ellipse">
            <a:avLst/>
          </a:prstGeom>
          <a:solidFill>
            <a:schemeClr val="accent1"/>
          </a:solidFill>
          <a:ln w="12700">
            <a:solidFill>
              <a:schemeClr val="accent1"/>
            </a:solidFill>
            <a:prstDash val="solid"/>
          </a:ln>
        </p:spPr>
      </p:sp>
      <p:pic>
        <p:nvPicPr>
          <p:cNvPr id="5" name="idea icon 1" descr="idea icon 1">    </p:cNvPr>
          <p:cNvPicPr>
            <a:picLocks noChangeAspect="1"/>
          </p:cNvPicPr>
          <p:nvPr/>
        </p:nvPicPr>
        <p:blipFill>
          <a:blip r:embed="rId1"/>
          <a:stretch>
            <a:fillRect/>
          </a:stretch>
        </p:blipFill>
        <p:spPr>
          <a:xfrm>
            <a:off x="1062990" y="2114550"/>
            <a:ext cx="388620" cy="388620"/>
          </a:xfrm>
          <a:prstGeom prst="rect">
            <a:avLst/>
          </a:prstGeom>
        </p:spPr>
      </p:pic>
      <p:sp>
        <p:nvSpPr>
          <p:cNvPr id="6" name="idea head 1"/>
          <p:cNvSpPr txBox="1"/>
          <p:nvPr/>
        </p:nvSpPr>
        <p:spPr>
          <a:xfrm>
            <a:off x="1920240" y="1920240"/>
            <a:ext cx="3840480" cy="411480"/>
          </a:xfrm>
          <a:prstGeom prst="rect">
            <a:avLst/>
          </a:prstGeom>
          <a:noFill/>
          <a:ln/>
        </p:spPr>
        <p:txBody>
          <a:bodyPr wrap="square" lIns="0" tIns="0" rIns="0" bIns="0" rtlCol="0" anchor="ctr"/>
          <a:lstStyle/>
          <a:p>
            <a:pPr indent="0" marL="0">
              <a:buNone/>
            </a:pPr>
            <a:r>
              <a:rPr lang="en-US" sz="2100" b="1" dirty="0">
                <a:solidFill>
                  <a:schemeClr val="tx1"/>
                </a:solidFill>
              </a:rPr>
              <a:t>Dữ liệu thật</a:t>
            </a:r>
            <a:endParaRPr lang="en-US" sz="2100" dirty="0"/>
          </a:p>
        </p:txBody>
      </p:sp>
      <p:sp>
        <p:nvSpPr>
          <p:cNvPr id="7" name="idea desc 1"/>
          <p:cNvSpPr txBox="1"/>
          <p:nvPr/>
        </p:nvSpPr>
        <p:spPr>
          <a:xfrm>
            <a:off x="1920240" y="2423160"/>
            <a:ext cx="3840480" cy="1097280"/>
          </a:xfrm>
          <a:prstGeom prst="rect">
            <a:avLst/>
          </a:prstGeom>
          <a:noFill/>
          <a:ln/>
        </p:spPr>
        <p:txBody>
          <a:bodyPr wrap="square" lIns="0" tIns="0" rIns="0" bIns="0" rtlCol="0" anchor="t"/>
          <a:lstStyle/>
          <a:p>
            <a:pPr indent="0" marL="0">
              <a:buNone/>
            </a:pPr>
            <a:r>
              <a:rPr lang="en-US" sz="1600" dirty="0">
                <a:solidFill>
                  <a:schemeClr val="accent5"/>
                </a:solidFill>
              </a:rPr>
              <a:t>Nạp dữ liệu GTFS của mạng lưới xe buýt thực tế.</a:t>
            </a:r>
            <a:endParaRPr lang="en-US" sz="1600" dirty="0"/>
          </a:p>
        </p:txBody>
      </p:sp>
      <p:sp>
        <p:nvSpPr>
          <p:cNvPr id="8" name="idea card 2"/>
          <p:cNvSpPr/>
          <p:nvPr/>
        </p:nvSpPr>
        <p:spPr>
          <a:xfrm>
            <a:off x="6190488" y="1600200"/>
            <a:ext cx="5449824" cy="2103120"/>
          </a:xfrm>
          <a:prstGeom prst="roundRect">
            <a:avLst>
              <a:gd name="adj" fmla="val 5217"/>
            </a:avLst>
          </a:prstGeom>
          <a:solidFill>
            <a:schemeClr val="bg2"/>
          </a:solidFill>
          <a:ln w="12700">
            <a:solidFill>
              <a:schemeClr val="bg2"/>
            </a:solidFill>
            <a:prstDash val="solid"/>
          </a:ln>
        </p:spPr>
      </p:sp>
      <p:sp>
        <p:nvSpPr>
          <p:cNvPr id="9" name="idea icon 2 circle"/>
          <p:cNvSpPr/>
          <p:nvPr/>
        </p:nvSpPr>
        <p:spPr>
          <a:xfrm>
            <a:off x="6510528" y="1920240"/>
            <a:ext cx="777240" cy="777240"/>
          </a:xfrm>
          <a:prstGeom prst="ellipse">
            <a:avLst/>
          </a:prstGeom>
          <a:solidFill>
            <a:schemeClr val="accent2"/>
          </a:solidFill>
          <a:ln w="12700">
            <a:solidFill>
              <a:schemeClr val="accent2"/>
            </a:solidFill>
            <a:prstDash val="solid"/>
          </a:ln>
        </p:spPr>
      </p:sp>
      <p:pic>
        <p:nvPicPr>
          <p:cNvPr id="10" name="idea icon 2" descr="idea icon 2">    </p:cNvPr>
          <p:cNvPicPr>
            <a:picLocks noChangeAspect="1"/>
          </p:cNvPicPr>
          <p:nvPr/>
        </p:nvPicPr>
        <p:blipFill>
          <a:blip r:embed="rId2"/>
          <a:stretch>
            <a:fillRect/>
          </a:stretch>
        </p:blipFill>
        <p:spPr>
          <a:xfrm>
            <a:off x="6704838" y="2114550"/>
            <a:ext cx="388620" cy="388620"/>
          </a:xfrm>
          <a:prstGeom prst="rect">
            <a:avLst/>
          </a:prstGeom>
        </p:spPr>
      </p:pic>
      <p:sp>
        <p:nvSpPr>
          <p:cNvPr id="11" name="idea head 2"/>
          <p:cNvSpPr txBox="1"/>
          <p:nvPr/>
        </p:nvSpPr>
        <p:spPr>
          <a:xfrm>
            <a:off x="7562088" y="1920240"/>
            <a:ext cx="3840480" cy="411480"/>
          </a:xfrm>
          <a:prstGeom prst="rect">
            <a:avLst/>
          </a:prstGeom>
          <a:noFill/>
          <a:ln/>
        </p:spPr>
        <p:txBody>
          <a:bodyPr wrap="square" lIns="0" tIns="0" rIns="0" bIns="0" rtlCol="0" anchor="ctr"/>
          <a:lstStyle/>
          <a:p>
            <a:pPr indent="0" marL="0">
              <a:buNone/>
            </a:pPr>
            <a:r>
              <a:rPr lang="en-US" sz="2100" b="1" dirty="0">
                <a:solidFill>
                  <a:schemeClr val="tx1"/>
                </a:solidFill>
              </a:rPr>
              <a:t>Đi bộ giữa các trạm</a:t>
            </a:r>
            <a:endParaRPr lang="en-US" sz="2100" dirty="0"/>
          </a:p>
        </p:txBody>
      </p:sp>
      <p:sp>
        <p:nvSpPr>
          <p:cNvPr id="12" name="idea desc 2"/>
          <p:cNvSpPr txBox="1"/>
          <p:nvPr/>
        </p:nvSpPr>
        <p:spPr>
          <a:xfrm>
            <a:off x="7562088" y="2423160"/>
            <a:ext cx="3840480" cy="1097280"/>
          </a:xfrm>
          <a:prstGeom prst="rect">
            <a:avLst/>
          </a:prstGeom>
          <a:noFill/>
          <a:ln/>
        </p:spPr>
        <p:txBody>
          <a:bodyPr wrap="square" lIns="0" tIns="0" rIns="0" bIns="0" rtlCol="0" anchor="t"/>
          <a:lstStyle/>
          <a:p>
            <a:pPr indent="0" marL="0">
              <a:buNone/>
            </a:pPr>
            <a:r>
              <a:rPr lang="en-US" sz="1600" dirty="0">
                <a:solidFill>
                  <a:schemeClr val="accent5"/>
                </a:solidFill>
              </a:rPr>
              <a:t>Thêm cạnh đi bộ giữa các trạm gần nhau để mở rộng lựa chọn chuyển tuyến.</a:t>
            </a:r>
            <a:endParaRPr lang="en-US" sz="1600" dirty="0"/>
          </a:p>
        </p:txBody>
      </p:sp>
      <p:sp>
        <p:nvSpPr>
          <p:cNvPr id="13" name="idea card 3"/>
          <p:cNvSpPr/>
          <p:nvPr/>
        </p:nvSpPr>
        <p:spPr>
          <a:xfrm>
            <a:off x="548640" y="3931920"/>
            <a:ext cx="5449824" cy="2103120"/>
          </a:xfrm>
          <a:prstGeom prst="roundRect">
            <a:avLst>
              <a:gd name="adj" fmla="val 5217"/>
            </a:avLst>
          </a:prstGeom>
          <a:solidFill>
            <a:schemeClr val="bg2"/>
          </a:solidFill>
          <a:ln w="12700">
            <a:solidFill>
              <a:schemeClr val="bg2"/>
            </a:solidFill>
            <a:prstDash val="solid"/>
          </a:ln>
        </p:spPr>
      </p:sp>
      <p:sp>
        <p:nvSpPr>
          <p:cNvPr id="14" name="idea icon 3 circle"/>
          <p:cNvSpPr/>
          <p:nvPr/>
        </p:nvSpPr>
        <p:spPr>
          <a:xfrm>
            <a:off x="868680" y="4251960"/>
            <a:ext cx="777240" cy="777240"/>
          </a:xfrm>
          <a:prstGeom prst="ellipse">
            <a:avLst/>
          </a:prstGeom>
          <a:solidFill>
            <a:schemeClr val="accent4"/>
          </a:solidFill>
          <a:ln w="12700">
            <a:solidFill>
              <a:schemeClr val="accent4"/>
            </a:solidFill>
            <a:prstDash val="solid"/>
          </a:ln>
        </p:spPr>
      </p:sp>
      <p:pic>
        <p:nvPicPr>
          <p:cNvPr id="15" name="idea icon 3" descr="idea icon 3">    </p:cNvPr>
          <p:cNvPicPr>
            <a:picLocks noChangeAspect="1"/>
          </p:cNvPicPr>
          <p:nvPr/>
        </p:nvPicPr>
        <p:blipFill>
          <a:blip r:embed="rId3"/>
          <a:stretch>
            <a:fillRect/>
          </a:stretch>
        </p:blipFill>
        <p:spPr>
          <a:xfrm>
            <a:off x="1062990" y="4446270"/>
            <a:ext cx="388620" cy="388620"/>
          </a:xfrm>
          <a:prstGeom prst="rect">
            <a:avLst/>
          </a:prstGeom>
        </p:spPr>
      </p:pic>
      <p:sp>
        <p:nvSpPr>
          <p:cNvPr id="16" name="idea head 3"/>
          <p:cNvSpPr txBox="1"/>
          <p:nvPr/>
        </p:nvSpPr>
        <p:spPr>
          <a:xfrm>
            <a:off x="1920240" y="4251960"/>
            <a:ext cx="3840480" cy="411480"/>
          </a:xfrm>
          <a:prstGeom prst="rect">
            <a:avLst/>
          </a:prstGeom>
          <a:noFill/>
          <a:ln/>
        </p:spPr>
        <p:txBody>
          <a:bodyPr wrap="square" lIns="0" tIns="0" rIns="0" bIns="0" rtlCol="0" anchor="ctr"/>
          <a:lstStyle/>
          <a:p>
            <a:pPr indent="0" marL="0">
              <a:buNone/>
            </a:pPr>
            <a:r>
              <a:rPr lang="en-US" sz="2100" b="1" dirty="0">
                <a:solidFill>
                  <a:schemeClr val="tx1"/>
                </a:solidFill>
              </a:rPr>
              <a:t>Giờ chạy thực</a:t>
            </a:r>
            <a:endParaRPr lang="en-US" sz="2100" dirty="0"/>
          </a:p>
        </p:txBody>
      </p:sp>
      <p:sp>
        <p:nvSpPr>
          <p:cNvPr id="17" name="idea desc 3"/>
          <p:cNvSpPr txBox="1"/>
          <p:nvPr/>
        </p:nvSpPr>
        <p:spPr>
          <a:xfrm>
            <a:off x="1920240" y="4754880"/>
            <a:ext cx="3840480" cy="1097280"/>
          </a:xfrm>
          <a:prstGeom prst="rect">
            <a:avLst/>
          </a:prstGeom>
          <a:noFill/>
          <a:ln/>
        </p:spPr>
        <p:txBody>
          <a:bodyPr wrap="square" lIns="0" tIns="0" rIns="0" bIns="0" rtlCol="0" anchor="t"/>
          <a:lstStyle/>
          <a:p>
            <a:pPr indent="0" marL="0">
              <a:buNone/>
            </a:pPr>
            <a:r>
              <a:rPr lang="en-US" sz="1600" dirty="0">
                <a:solidFill>
                  <a:schemeClr val="accent5"/>
                </a:solidFill>
              </a:rPr>
              <a:t>Dùng lịch xuất bến thay cho thời gian chờ trung bình.</a:t>
            </a:r>
            <a:endParaRPr lang="en-US" sz="1600" dirty="0"/>
          </a:p>
        </p:txBody>
      </p:sp>
      <p:sp>
        <p:nvSpPr>
          <p:cNvPr id="18" name="idea card 4"/>
          <p:cNvSpPr/>
          <p:nvPr/>
        </p:nvSpPr>
        <p:spPr>
          <a:xfrm>
            <a:off x="6190488" y="3931920"/>
            <a:ext cx="5449824" cy="2103120"/>
          </a:xfrm>
          <a:prstGeom prst="roundRect">
            <a:avLst>
              <a:gd name="adj" fmla="val 5217"/>
            </a:avLst>
          </a:prstGeom>
          <a:solidFill>
            <a:schemeClr val="bg2"/>
          </a:solidFill>
          <a:ln w="12700">
            <a:solidFill>
              <a:schemeClr val="bg2"/>
            </a:solidFill>
            <a:prstDash val="solid"/>
          </a:ln>
        </p:spPr>
      </p:sp>
      <p:sp>
        <p:nvSpPr>
          <p:cNvPr id="19" name="idea icon 4 circle"/>
          <p:cNvSpPr/>
          <p:nvPr/>
        </p:nvSpPr>
        <p:spPr>
          <a:xfrm>
            <a:off x="6510528" y="4251960"/>
            <a:ext cx="777240" cy="777240"/>
          </a:xfrm>
          <a:prstGeom prst="ellipse">
            <a:avLst/>
          </a:prstGeom>
          <a:solidFill>
            <a:schemeClr val="accent3"/>
          </a:solidFill>
          <a:ln w="12700">
            <a:solidFill>
              <a:schemeClr val="accent3"/>
            </a:solidFill>
            <a:prstDash val="solid"/>
          </a:ln>
        </p:spPr>
      </p:sp>
      <p:pic>
        <p:nvPicPr>
          <p:cNvPr id="20" name="idea icon 4" descr="idea icon 4">    </p:cNvPr>
          <p:cNvPicPr>
            <a:picLocks noChangeAspect="1"/>
          </p:cNvPicPr>
          <p:nvPr/>
        </p:nvPicPr>
        <p:blipFill>
          <a:blip r:embed="rId4"/>
          <a:stretch>
            <a:fillRect/>
          </a:stretch>
        </p:blipFill>
        <p:spPr>
          <a:xfrm>
            <a:off x="6704838" y="4446270"/>
            <a:ext cx="388620" cy="388620"/>
          </a:xfrm>
          <a:prstGeom prst="rect">
            <a:avLst/>
          </a:prstGeom>
        </p:spPr>
      </p:pic>
      <p:sp>
        <p:nvSpPr>
          <p:cNvPr id="21" name="idea head 4"/>
          <p:cNvSpPr txBox="1"/>
          <p:nvPr/>
        </p:nvSpPr>
        <p:spPr>
          <a:xfrm>
            <a:off x="7562088" y="4251960"/>
            <a:ext cx="3840480" cy="411480"/>
          </a:xfrm>
          <a:prstGeom prst="rect">
            <a:avLst/>
          </a:prstGeom>
          <a:noFill/>
          <a:ln/>
        </p:spPr>
        <p:txBody>
          <a:bodyPr wrap="square" lIns="0" tIns="0" rIns="0" bIns="0" rtlCol="0" anchor="ctr"/>
          <a:lstStyle/>
          <a:p>
            <a:pPr indent="0" marL="0">
              <a:buNone/>
            </a:pPr>
            <a:r>
              <a:rPr lang="en-US" sz="2100" b="1" dirty="0">
                <a:solidFill>
                  <a:schemeClr val="tx1"/>
                </a:solidFill>
              </a:rPr>
              <a:t>Đồ thị lớn</a:t>
            </a:r>
            <a:endParaRPr lang="en-US" sz="2100" dirty="0"/>
          </a:p>
        </p:txBody>
      </p:sp>
      <p:sp>
        <p:nvSpPr>
          <p:cNvPr id="22" name="idea desc 4"/>
          <p:cNvSpPr txBox="1"/>
          <p:nvPr/>
        </p:nvSpPr>
        <p:spPr>
          <a:xfrm>
            <a:off x="7562088" y="4754880"/>
            <a:ext cx="3840480" cy="1097280"/>
          </a:xfrm>
          <a:prstGeom prst="rect">
            <a:avLst/>
          </a:prstGeom>
          <a:noFill/>
          <a:ln/>
        </p:spPr>
        <p:txBody>
          <a:bodyPr wrap="square" lIns="0" tIns="0" rIns="0" bIns="0" rtlCol="0" anchor="t"/>
          <a:lstStyle/>
          <a:p>
            <a:pPr indent="0" marL="0">
              <a:buNone/>
            </a:pPr>
            <a:r>
              <a:rPr lang="en-US" sz="1600" dirty="0">
                <a:solidFill>
                  <a:schemeClr val="accent5"/>
                </a:solidFill>
              </a:rPr>
              <a:t>Dùng Neo4j GDS hoặc thuật toán A* khi mạng lưới có hàng chục nghìn trạm.</a:t>
            </a:r>
            <a:endParaRPr lang="en-US" sz="1600" dirty="0"/>
          </a:p>
        </p:txBody>
      </p:sp>
      <p:sp>
        <p:nvSpPr>
          <p:cNvPr id="25" name="Slide Number Placeholder 0"/>
          <p:cNvSpPr>
            <a:spLocks noGrp="1"/>
          </p:cNvSpPr>
          <p:nvPr>
            <p:ph type="sldNum" sz="quarter" idx="4294967295"/>
          </p:nvPr>
        </p:nvSpPr>
        <p:spPr>
          <a:xfrm>
            <a:off x="54864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675120" cy="2286000"/>
          </a:xfrm>
          <a:prstGeom prst="rect">
            <a:avLst/>
          </a:prstGeom>
          <a:noFill/>
          <a:ln/>
        </p:spPr>
        <p:txBody>
          <a:bodyPr wrap="square" lIns="0" tIns="0" rIns="0" bIns="0" rtlCol="0" anchor="b"/>
          <a:lstStyle/>
          <a:p>
            <a:pPr algn="l" indent="0" marL="0">
              <a:buNone/>
            </a:pPr>
            <a:r>
              <a:rPr lang="en-US" sz="4600" b="1" dirty="0">
                <a:solidFill>
                  <a:schemeClr val="bg1"/>
                </a:solidFill>
              </a:rPr>
              <a:t>Cảm ơn đã lắng nghe</a:t>
            </a:r>
            <a:endParaRPr lang="en-US" sz="4600" dirty="0"/>
          </a:p>
        </p:txBody>
      </p:sp>
      <p:sp>
        <p:nvSpPr>
          <p:cNvPr id="3" name="Text 0"/>
          <p:cNvSpPr/>
          <p:nvPr>
            <p:ph idx="101" type="body" hasCustomPrompt="1"/>
          </p:nvPr>
        </p:nvSpPr>
        <p:spPr>
          <a:xfrm>
            <a:off x="731520" y="4343400"/>
            <a:ext cx="6675120" cy="822960"/>
          </a:xfrm>
          <a:prstGeom prst="rect">
            <a:avLst/>
          </a:prstGeom>
          <a:noFill/>
          <a:ln/>
        </p:spPr>
        <p:txBody>
          <a:bodyPr wrap="square" lIns="0" tIns="0" rIns="0" bIns="0" rtlCol="0" anchor="t"/>
          <a:lstStyle/>
          <a:p>
            <a:pPr indent="0" marL="0">
              <a:buNone/>
            </a:pPr>
            <a:r>
              <a:rPr lang="en-US" sz="2000" dirty="0">
                <a:solidFill>
                  <a:schemeClr val="accent2"/>
                </a:solidFill>
              </a:rPr>
              <a:t>Hỏi và đáp</a:t>
            </a:r>
            <a:endParaRPr lang="en-US" sz="2000" dirty="0"/>
          </a:p>
        </p:txBody>
      </p:sp>
      <p:sp>
        <p:nvSpPr>
          <p:cNvPr id="4" name="closing node 1"/>
          <p:cNvSpPr/>
          <p:nvPr/>
        </p:nvSpPr>
        <p:spPr>
          <a:xfrm>
            <a:off x="8211312" y="1627632"/>
            <a:ext cx="402336" cy="402336"/>
          </a:xfrm>
          <a:prstGeom prst="ellipse">
            <a:avLst/>
          </a:prstGeom>
          <a:solidFill>
            <a:schemeClr val="accent1"/>
          </a:solidFill>
          <a:ln w="38100">
            <a:solidFill>
              <a:schemeClr val="bg1"/>
            </a:solidFill>
            <a:prstDash val="solid"/>
          </a:ln>
        </p:spPr>
      </p:sp>
      <p:sp>
        <p:nvSpPr>
          <p:cNvPr id="5" name="closing node 2"/>
          <p:cNvSpPr/>
          <p:nvPr/>
        </p:nvSpPr>
        <p:spPr>
          <a:xfrm>
            <a:off x="9857232" y="1078992"/>
            <a:ext cx="402336" cy="402336"/>
          </a:xfrm>
          <a:prstGeom prst="ellipse">
            <a:avLst/>
          </a:prstGeom>
          <a:solidFill>
            <a:schemeClr val="accent2"/>
          </a:solidFill>
          <a:ln w="38100">
            <a:solidFill>
              <a:schemeClr val="bg1"/>
            </a:solidFill>
            <a:prstDash val="solid"/>
          </a:ln>
        </p:spPr>
      </p:sp>
      <p:sp>
        <p:nvSpPr>
          <p:cNvPr id="6" name="closing node 3"/>
          <p:cNvSpPr/>
          <p:nvPr/>
        </p:nvSpPr>
        <p:spPr>
          <a:xfrm>
            <a:off x="10954512" y="2450592"/>
            <a:ext cx="402336" cy="402336"/>
          </a:xfrm>
          <a:prstGeom prst="ellipse">
            <a:avLst/>
          </a:prstGeom>
          <a:solidFill>
            <a:schemeClr val="accent1"/>
          </a:solidFill>
          <a:ln w="38100">
            <a:solidFill>
              <a:schemeClr val="bg1"/>
            </a:solidFill>
            <a:prstDash val="solid"/>
          </a:ln>
        </p:spPr>
      </p:sp>
      <p:sp>
        <p:nvSpPr>
          <p:cNvPr id="7" name="closing node 4"/>
          <p:cNvSpPr/>
          <p:nvPr/>
        </p:nvSpPr>
        <p:spPr>
          <a:xfrm>
            <a:off x="9308592" y="3182112"/>
            <a:ext cx="402336" cy="402336"/>
          </a:xfrm>
          <a:prstGeom prst="ellipse">
            <a:avLst/>
          </a:prstGeom>
          <a:solidFill>
            <a:schemeClr val="accent2"/>
          </a:solidFill>
          <a:ln w="38100">
            <a:solidFill>
              <a:schemeClr val="bg1"/>
            </a:solidFill>
            <a:prstDash val="solid"/>
          </a:ln>
        </p:spPr>
      </p:sp>
      <p:sp>
        <p:nvSpPr>
          <p:cNvPr id="8" name="closing node 5"/>
          <p:cNvSpPr/>
          <p:nvPr/>
        </p:nvSpPr>
        <p:spPr>
          <a:xfrm>
            <a:off x="7936992" y="4005072"/>
            <a:ext cx="402336" cy="402336"/>
          </a:xfrm>
          <a:prstGeom prst="ellipse">
            <a:avLst/>
          </a:prstGeom>
          <a:solidFill>
            <a:schemeClr val="accent1"/>
          </a:solidFill>
          <a:ln w="38100">
            <a:solidFill>
              <a:schemeClr val="bg1"/>
            </a:solidFill>
            <a:prstDash val="solid"/>
          </a:ln>
        </p:spPr>
      </p:sp>
      <p:sp>
        <p:nvSpPr>
          <p:cNvPr id="9" name="closing node 6"/>
          <p:cNvSpPr/>
          <p:nvPr/>
        </p:nvSpPr>
        <p:spPr>
          <a:xfrm>
            <a:off x="10405872" y="4462272"/>
            <a:ext cx="402336" cy="402336"/>
          </a:xfrm>
          <a:prstGeom prst="ellipse">
            <a:avLst/>
          </a:prstGeom>
          <a:solidFill>
            <a:schemeClr val="accent2"/>
          </a:solidFill>
          <a:ln w="38100">
            <a:solidFill>
              <a:schemeClr val="bg1"/>
            </a:solidFill>
            <a:prstDash val="solid"/>
          </a:ln>
        </p:spPr>
      </p:sp>
      <p:sp>
        <p:nvSpPr>
          <p:cNvPr id="10" name="closing node 7"/>
          <p:cNvSpPr/>
          <p:nvPr/>
        </p:nvSpPr>
        <p:spPr>
          <a:xfrm>
            <a:off x="8942832" y="5468112"/>
            <a:ext cx="402336" cy="402336"/>
          </a:xfrm>
          <a:prstGeom prst="ellipse">
            <a:avLst/>
          </a:prstGeom>
          <a:solidFill>
            <a:schemeClr val="accent1"/>
          </a:solidFill>
          <a:ln w="38100">
            <a:solidFill>
              <a:schemeClr val="bg1"/>
            </a:solidFill>
            <a:prstDash val="solid"/>
          </a:ln>
        </p:spPr>
      </p:sp>
    </p:spTree>
  </p:cSld>
  <p:clrMapOvr>
    <a:masterClrMapping/>
  </p:clrMapOvr>
</p:sld>
</file>

<file path=ppt/theme/theme1.xml><?xml version="1.0" encoding="utf-8"?>
<a:theme xmlns:a="http://schemas.openxmlformats.org/drawingml/2006/main" name="Bus Graph">
  <a:themeElements>
    <a:clrScheme name="Bus Graph">
      <a:dk1>
        <a:srgbClr val="0B1F3A"/>
      </a:dk1>
      <a:lt1>
        <a:srgbClr val="FFFFFF"/>
      </a:lt1>
      <a:dk2>
        <a:srgbClr val="1F3B5C"/>
      </a:dk2>
      <a:lt2>
        <a:srgbClr val="EEF3F8"/>
      </a:lt2>
      <a:accent1>
        <a:srgbClr val="0E7C86"/>
      </a:accent1>
      <a:accent2>
        <a:srgbClr val="F5A623"/>
      </a:accent2>
      <a:accent3>
        <a:srgbClr val="D1495B"/>
      </a:accent3>
      <a:accent4>
        <a:srgbClr val="3E7CB1"/>
      </a:accent4>
      <a:accent5>
        <a:srgbClr val="5B6B7B"/>
      </a:accent5>
      <a:accent6>
        <a:srgbClr val="2E9E6B"/>
      </a:accent6>
      <a:hlink>
        <a:srgbClr val="0E7C86"/>
      </a:hlink>
      <a:folHlink>
        <a:srgbClr val="5B6B7B"/>
      </a:folHlink>
    </a:clrScheme>
    <a:fontScheme name="Bus Grap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tra cứu lộ trình xe buýt trên Neo4j</dc:title>
  <dc:subject>PptxGenJS Presentation</dc:subject>
  <dc:creator>Nhóm thực hiện</dc:creator>
  <cp:lastModifiedBy>Nhóm thực hiện</cp:lastModifiedBy>
  <cp:revision>1</cp:revision>
  <dcterms:created xsi:type="dcterms:W3CDTF">2026-10-24T09:43:12Z</dcterms:created>
  <dcterms:modified xsi:type="dcterms:W3CDTF">2026-10-24T09:43:12Z</dcterms:modified>
</cp:coreProperties>
</file>